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37b99d9-bc78-4f63-006a-c34c4e98186c}">
          <p14:sldIdLst>
            <p14:sldId id="256"/>
          </p14:sldIdLst>
        </p14:section>
        <p14:section name="Summary" id="{4ceae206-d1fb-91dc-c5e0-8ce2d7f0c497}">
          <p14:sldIdLst>
            <p14:sldId id="257"/>
          </p14:sldIdLst>
        </p14:section>
        <p14:section name="Context" id="{30f55c1d-db10-952b-1365-00c2077533e8}">
          <p14:sldIdLst>
            <p14:sldId id="258"/>
          </p14:sldIdLst>
        </p14:section>
        <p14:section name="Solution" id="{74c43b8d-5e6d-d199-cfb2-2bd168a020a0}">
          <p14:sldIdLst>
            <p14:sldId id="259"/>
          </p14:sldIdLst>
        </p14:section>
        <p14:section name="Data" id="{205b9551-711f-0496-ca74-03271ef282fd}">
          <p14:sldIdLst>
            <p14:sldId id="260"/>
            <p14:sldId id="261"/>
          </p14:sldIdLst>
        </p14:section>
        <p14:section name="Method" id="{0d29322f-099c-dda7-5851-32dc2f134052}">
          <p14:sldIdLst>
            <p14:sldId id="262"/>
            <p14:sldId id="263"/>
          </p14:sldIdLst>
        </p14:section>
        <p14:section name="Results" id="{ffe56b22-ab92-caaf-2a61-fda1655e832a}">
          <p14:sldIdLst>
            <p14:sldId id="264"/>
            <p14:sldId id="265"/>
            <p14:sldId id="266"/>
          </p14:sldIdLst>
        </p14:section>
        <p14:section name="Validation" id="{dd7de74f-94ff-38d1-b592-ed3172bb6315}">
          <p14:sldIdLst>
            <p14:sldId id="267"/>
            <p14:sldId id="268"/>
          </p14:sldIdLst>
        </p14:section>
        <p14:section name="Delivery" id="{693951b6-73fa-d0a4-bd44-f1d8e09d94df}">
          <p14:sldIdLst>
            <p14:sldId id="269"/>
          </p14:sldIdLst>
        </p14:section>
        <p14:section name="Risks" id="{463b4dcd-ead4-2f2c-b759-c6f43b6dca1b}">
          <p14:sldIdLst>
            <p14:sldId id="270"/>
          </p14:sldIdLst>
        </p14:section>
        <p14:section name="Next steps" id="{dcedcee7-e641-e214-6806-90f5a5a1bdb1}">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mn-lt"/>
              </a:defRPr>
            </a:pPr>
            <a:r>
              <a:rPr sz="1400" b="0" i="0" u="none" strike="noStrike">
                <a:solidFill>
                  <a:srgbClr val="0B1F3A"/>
                </a:solidFill>
                <a:latin typeface="+mn-lt"/>
              </a:rPr>
              <a:t>Transactions by channel</a:t>
            </a:r>
          </a:p>
        </c:rich>
      </c:tx>
      <c:layout/>
      <c:overlay val="0"/>
    </c:title>
    <c:autoTitleDeleted val="0"/>
    <c:plotArea>
      <c:layout/>
      <c:barChart>
        <c:barDir val="bar"/>
        <c:grouping val="clustered"/>
        <c:varyColors val="0"/>
        <c:ser>
          <c:idx val="0"/>
          <c:order val="0"/>
          <c:tx>
            <c:strRef>
              <c:f>Sheet1!$B$1</c:f>
              <c:strCache>
                <c:ptCount val="1"/>
                <c:pt idx="0">
                  <c:v>Transactions</c:v>
                </c:pt>
              </c:strCache>
            </c:strRef>
          </c:tx>
          <c:spPr>
            <a:solidFill>
              <a:srgbClr val="0B7A7D"/>
            </a:solidFill>
            <a:effectLst/>
          </c:spPr>
          <c:invertIfNegative val="0"/>
          <c:dLbls>
            <c:numFmt formatCode="#,##0" sourceLinked="0"/>
            <c:txPr>
              <a:bodyPr/>
              <a:lstStyle/>
              <a:p>
                <a:pPr>
                  <a:defRPr b="0" i="0" strike="noStrike" sz="1350" u="none">
                    <a:solidFill>
                      <a:srgbClr val="0B1F3A"/>
                    </a:solidFill>
                    <a:latin typeface="+mn-lt"/>
                  </a:defRPr>
                </a:pPr>
              </a:p>
            </c:txPr>
            <c:showLegendKey val="0"/>
            <c:showVal val="1"/>
            <c:showCatName val="0"/>
            <c:showSerName val="0"/>
            <c:showPercent val="0"/>
            <c:showBubbleSize val="0"/>
            <c:showLeaderLines val="0"/>
          </c:dLbls>
          <c:cat>
            <c:multiLvlStrRef>
              <c:f>Sheet1!$A$2:$A$6</c:f>
              <c:multiLvlStrCache>
                <c:ptCount val="5"/>
                <c:lvl>
                  <c:pt idx="0">
                    <c:v>Mobile App</c:v>
                  </c:pt>
                  <c:pt idx="1">
                    <c:v>POS</c:v>
                  </c:pt>
                  <c:pt idx="2">
                    <c:v>Web</c:v>
                  </c:pt>
                  <c:pt idx="3">
                    <c:v>ATM</c:v>
                  </c:pt>
                  <c:pt idx="4">
                    <c:v>USSD</c:v>
                  </c:pt>
                </c:lvl>
              </c:multiLvlStrCache>
            </c:multiLvlStrRef>
          </c:cat>
          <c:val>
            <c:numRef>
              <c:f>Sheet1!$B$2:$B$6</c:f>
              <c:numCache>
                <c:formatCode>General</c:formatCode>
                <c:ptCount val="5"/>
                <c:pt idx="0">
                  <c:v>5102</c:v>
                </c:pt>
                <c:pt idx="1">
                  <c:v>2393</c:v>
                </c:pt>
                <c:pt idx="2">
                  <c:v>1869</c:v>
                </c:pt>
                <c:pt idx="3">
                  <c:v>1747</c:v>
                </c:pt>
                <c:pt idx="4">
                  <c:v>889</c:v>
                </c:pt>
              </c:numCache>
            </c:numRef>
          </c:val>
        </c:ser>
        <c:dLbls>
          <c:numFmt formatCode="#,##0" sourceLinked="0"/>
          <c:txPr>
            <a:bodyPr/>
            <a:lstStyle/>
            <a:p>
              <a:pPr>
                <a:defRPr b="0" i="0" strike="noStrike" sz="1350" u="none">
                  <a:solidFill>
                    <a:srgbClr val="0B1F3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50" b="0" i="0" u="none" strike="noStrike">
                <a:solidFill>
                  <a:srgbClr val="26364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50" b="0" i="0" u="none" strike="noStrike">
                <a:solidFill>
                  <a:srgbClr val="26364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mn-lt"/>
              </a:defRPr>
            </a:pPr>
            <a:r>
              <a:rPr sz="1400" b="0" i="0" u="none" strike="noStrike">
                <a:solidFill>
                  <a:srgbClr val="0B1F3A"/>
                </a:solidFill>
                <a:latin typeface="+mn-lt"/>
              </a:rPr>
              <a:t>Share of transactions flagged for review</a:t>
            </a:r>
          </a:p>
        </c:rich>
      </c:tx>
      <c:layout/>
      <c:overlay val="0"/>
    </c:title>
    <c:autoTitleDeleted val="0"/>
    <c:plotArea>
      <c:layout/>
      <c:barChart>
        <c:barDir val="bar"/>
        <c:grouping val="clustered"/>
        <c:varyColors val="0"/>
        <c:ser>
          <c:idx val="0"/>
          <c:order val="0"/>
          <c:tx>
            <c:strRef>
              <c:f>Sheet1!$B$1</c:f>
              <c:strCache>
                <c:ptCount val="1"/>
                <c:pt idx="0">
                  <c:v>Review rate (%)</c:v>
                </c:pt>
              </c:strCache>
            </c:strRef>
          </c:tx>
          <c:spPr>
            <a:solidFill>
              <a:srgbClr val="5B7C99"/>
            </a:solidFill>
            <a:effectLst/>
          </c:spPr>
          <c:invertIfNegative val="0"/>
          <c:dLbls>
            <c:numFmt formatCode="0.0&quot;%&quot;" sourceLinked="0"/>
            <c:txPr>
              <a:bodyPr/>
              <a:lstStyle/>
              <a:p>
                <a:pPr>
                  <a:defRPr b="0" i="0" strike="noStrike" sz="1350" u="none">
                    <a:solidFill>
                      <a:srgbClr val="0B1F3A"/>
                    </a:solidFill>
                    <a:latin typeface="+mn-lt"/>
                  </a:defRPr>
                </a:pPr>
              </a:p>
            </c:txPr>
            <c:showLegendKey val="0"/>
            <c:showVal val="1"/>
            <c:showCatName val="0"/>
            <c:showSerName val="0"/>
            <c:showPercent val="0"/>
            <c:showBubbleSize val="0"/>
            <c:showLeaderLines val="0"/>
          </c:dLbls>
          <c:dPt>
            <c:idx val="0"/>
            <c:invertIfNegative val="0"/>
            <c:bubble3D val="0"/>
            <c:spPr>
              <a:solidFill>
                <a:srgbClr val="5B7C99"/>
              </a:solidFill>
              <a:effectLst/>
            </c:spPr>
          </c:dPt>
          <c:dPt>
            <c:idx val="1"/>
            <c:invertIfNegative val="0"/>
            <c:bubble3D val="0"/>
            <c:spPr>
              <a:solidFill>
                <a:srgbClr val="C0283F"/>
              </a:solidFill>
              <a:effectLst/>
            </c:spPr>
          </c:dPt>
          <c:dPt>
            <c:idx val="2"/>
            <c:invertIfNegative val="0"/>
            <c:bubble3D val="0"/>
            <c:spPr>
              <a:solidFill>
                <a:srgbClr val="C0283F"/>
              </a:solidFill>
              <a:effectLst/>
            </c:spPr>
          </c:dPt>
          <c:dPt>
            <c:idx val="3"/>
            <c:invertIfNegative val="0"/>
            <c:bubble3D val="0"/>
            <c:spPr>
              <a:solidFill>
                <a:srgbClr val="C0283F"/>
              </a:solidFill>
              <a:effectLst/>
            </c:spPr>
          </c:dPt>
          <c:dPt>
            <c:idx val="4"/>
            <c:invertIfNegative val="0"/>
            <c:bubble3D val="0"/>
            <c:spPr>
              <a:solidFill>
                <a:srgbClr val="C0283F"/>
              </a:solidFill>
              <a:effectLst/>
            </c:spPr>
          </c:dPt>
          <c:dPt>
            <c:idx val="5"/>
            <c:invertIfNegative val="0"/>
            <c:bubble3D val="0"/>
            <c:spPr>
              <a:solidFill>
                <a:srgbClr val="C0283F"/>
              </a:solidFill>
              <a:effectLst/>
            </c:spPr>
          </c:dPt>
          <c:dPt>
            <c:idx val="6"/>
            <c:invertIfNegative val="0"/>
            <c:bubble3D val="0"/>
            <c:spPr>
              <a:solidFill>
                <a:srgbClr val="8FB8DE"/>
              </a:solidFill>
              <a:effectLst/>
            </c:spPr>
          </c:dPt>
          <c:dPt>
            <c:idx val="7"/>
            <c:invertIfNegative val="0"/>
            <c:bubble3D val="0"/>
            <c:spPr>
              <a:solidFill>
                <a:srgbClr val="8FB8DE"/>
              </a:solidFill>
              <a:effectLst/>
            </c:spPr>
          </c:dPt>
          <c:cat>
            <c:multiLvlStrRef>
              <c:f>Sheet1!$A$2:$A$9</c:f>
              <c:multiLvlStrCache>
                <c:ptCount val="8"/>
                <c:lvl>
                  <c:pt idx="0">
                    <c:v>Overall</c:v>
                  </c:pt>
                  <c:pt idx="1">
                    <c:v>International</c:v>
                  </c:pt>
                  <c:pt idx="2">
                    <c:v>Night (00:00-05:59)</c:v>
                  </c:pt>
                  <c:pt idx="3">
                    <c:v>Transfer</c:v>
                  </c:pt>
                  <c:pt idx="4">
                    <c:v>Cash withdrawal</c:v>
                  </c:pt>
                  <c:pt idx="5">
                    <c:v>Top 20% by amount</c:v>
                  </c:pt>
                  <c:pt idx="6">
                    <c:v>Domestic</c:v>
                  </c:pt>
                  <c:pt idx="7">
                    <c:v>Bill payment</c:v>
                  </c:pt>
                </c:lvl>
              </c:multiLvlStrCache>
            </c:multiLvlStrRef>
          </c:cat>
          <c:val>
            <c:numRef>
              <c:f>Sheet1!$B$2:$B$9</c:f>
              <c:numCache>
                <c:formatCode>General</c:formatCode>
                <c:ptCount val="8"/>
                <c:pt idx="0">
                  <c:v>19.6</c:v>
                </c:pt>
                <c:pt idx="1">
                  <c:v>36.9</c:v>
                </c:pt>
                <c:pt idx="2">
                  <c:v>28.4</c:v>
                </c:pt>
                <c:pt idx="3">
                  <c:v>28.5</c:v>
                </c:pt>
                <c:pt idx="4">
                  <c:v>25.3</c:v>
                </c:pt>
                <c:pt idx="5">
                  <c:v>26.8</c:v>
                </c:pt>
                <c:pt idx="6">
                  <c:v>18.9</c:v>
                </c:pt>
                <c:pt idx="7">
                  <c:v>12.8</c:v>
                </c:pt>
              </c:numCache>
            </c:numRef>
          </c:val>
        </c:ser>
        <c:dLbls>
          <c:numFmt formatCode="0.0&quot;%&quot;" sourceLinked="0"/>
          <c:txPr>
            <a:bodyPr/>
            <a:lstStyle/>
            <a:p>
              <a:pPr>
                <a:defRPr b="0" i="0" strike="noStrike" sz="1350" u="none">
                  <a:solidFill>
                    <a:srgbClr val="0B1F3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50" b="0" i="0" u="none" strike="noStrike">
                <a:solidFill>
                  <a:srgbClr val="26364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50" b="0" i="0" u="none" strike="noStrike">
                <a:solidFill>
                  <a:srgbClr val="26364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mn-lt"/>
              </a:defRPr>
            </a:pPr>
            <a:r>
              <a:rPr sz="1400" b="0" i="0" u="none" strike="noStrike">
                <a:solidFill>
                  <a:srgbClr val="0B1F3A"/>
                </a:solidFill>
                <a:latin typeface="+mn-lt"/>
              </a:rPr>
              <a:t>Cross-validated PR-AUC (higher is better)</a:t>
            </a:r>
          </a:p>
        </c:rich>
      </c:tx>
      <c:layout/>
      <c:overlay val="0"/>
    </c:title>
    <c:autoTitleDeleted val="0"/>
    <c:plotArea>
      <c:layout/>
      <c:barChart>
        <c:barDir val="col"/>
        <c:grouping val="clustered"/>
        <c:varyColors val="0"/>
        <c:ser>
          <c:idx val="0"/>
          <c:order val="0"/>
          <c:tx>
            <c:strRef>
              <c:f>Sheet1!$B$1</c:f>
              <c:strCache>
                <c:ptCount val="1"/>
                <c:pt idx="0">
                  <c:v>Transaction fields only</c:v>
                </c:pt>
              </c:strCache>
            </c:strRef>
          </c:tx>
          <c:spPr>
            <a:solidFill>
              <a:srgbClr val="0B7A7D"/>
            </a:solidFill>
            <a:effectLst/>
          </c:spPr>
          <c:invertIfNegative val="0"/>
          <c:dLbls>
            <c:numFmt formatCode="0.000" sourceLinked="0"/>
            <c:txPr>
              <a:bodyPr/>
              <a:lstStyle/>
              <a:p>
                <a:pPr>
                  <a:defRPr b="0" i="0" strike="noStrike" sz="1350" u="none">
                    <a:solidFill>
                      <a:srgbClr val="0B1F3A"/>
                    </a:solidFill>
                    <a:latin typeface="+mn-lt"/>
                  </a:defRPr>
                </a:pPr>
              </a:p>
            </c:txPr>
            <c:showLegendKey val="0"/>
            <c:showVal val="1"/>
            <c:showCatName val="0"/>
            <c:showSerName val="0"/>
            <c:showPercent val="0"/>
            <c:showBubbleSize val="0"/>
            <c:showLeaderLines val="0"/>
          </c:dLbls>
          <c:cat>
            <c:multiLvlStrRef>
              <c:f>Sheet1!$A$2:$A$4</c:f>
              <c:multiLvlStrCache>
                <c:ptCount val="3"/>
                <c:lvl>
                  <c:pt idx="0">
                    <c:v>Logistic regression</c:v>
                  </c:pt>
                  <c:pt idx="1">
                    <c:v>Random forest</c:v>
                  </c:pt>
                  <c:pt idx="2">
                    <c:v>Gradient boosting</c:v>
                  </c:pt>
                </c:lvl>
              </c:multiLvlStrCache>
            </c:multiLvlStrRef>
          </c:cat>
          <c:val>
            <c:numRef>
              <c:f>Sheet1!$B$2:$B$4</c:f>
              <c:numCache>
                <c:formatCode>General</c:formatCode>
                <c:ptCount val="3"/>
                <c:pt idx="0">
                  <c:v>0.3116</c:v>
                </c:pt>
                <c:pt idx="1">
                  <c:v>0.3197</c:v>
                </c:pt>
                <c:pt idx="2">
                  <c:v>0.3342</c:v>
                </c:pt>
              </c:numCache>
            </c:numRef>
          </c:val>
        </c:ser>
        <c:ser>
          <c:idx val="1"/>
          <c:order val="1"/>
          <c:tx>
            <c:strRef>
              <c:f>Sheet1!$C$1</c:f>
              <c:strCache>
                <c:ptCount val="1"/>
                <c:pt idx="0">
                  <c:v>Plus customer attributes</c:v>
                </c:pt>
              </c:strCache>
            </c:strRef>
          </c:tx>
          <c:spPr>
            <a:solidFill>
              <a:srgbClr val="8FB8DE"/>
            </a:solidFill>
            <a:effectLst/>
          </c:spPr>
          <c:invertIfNegative val="0"/>
          <c:dLbls>
            <c:numFmt formatCode="0.000" sourceLinked="0"/>
            <c:txPr>
              <a:bodyPr/>
              <a:lstStyle/>
              <a:p>
                <a:pPr>
                  <a:defRPr b="0" i="0" strike="noStrike" sz="1350" u="none">
                    <a:solidFill>
                      <a:srgbClr val="0B1F3A"/>
                    </a:solidFill>
                    <a:latin typeface="+mn-lt"/>
                  </a:defRPr>
                </a:pPr>
              </a:p>
            </c:txPr>
            <c:showLegendKey val="0"/>
            <c:showVal val="1"/>
            <c:showCatName val="0"/>
            <c:showSerName val="0"/>
            <c:showPercent val="0"/>
            <c:showBubbleSize val="0"/>
            <c:showLeaderLines val="0"/>
          </c:dLbls>
          <c:cat>
            <c:multiLvlStrRef>
              <c:f>Sheet1!$A$2:$A$4</c:f>
              <c:multiLvlStrCache>
                <c:ptCount val="3"/>
                <c:lvl>
                  <c:pt idx="0">
                    <c:v>Logistic regression</c:v>
                  </c:pt>
                  <c:pt idx="1">
                    <c:v>Random forest</c:v>
                  </c:pt>
                  <c:pt idx="2">
                    <c:v>Gradient boosting</c:v>
                  </c:pt>
                </c:lvl>
              </c:multiLvlStrCache>
            </c:multiLvlStrRef>
          </c:cat>
          <c:val>
            <c:numRef>
              <c:f>Sheet1!$C$2:$C$4</c:f>
              <c:numCache>
                <c:formatCode>General</c:formatCode>
                <c:ptCount val="3"/>
                <c:pt idx="0">
                  <c:v>0.312</c:v>
                </c:pt>
                <c:pt idx="1">
                  <c:v>0.3208</c:v>
                </c:pt>
                <c:pt idx="2">
                  <c:v>0.3274</c:v>
                </c:pt>
              </c:numCache>
            </c:numRef>
          </c:val>
        </c:ser>
        <c:dLbls>
          <c:numFmt formatCode="0.000" sourceLinked="0"/>
          <c:txPr>
            <a:bodyPr/>
            <a:lstStyle/>
            <a:p>
              <a:pPr>
                <a:defRPr b="0" i="0" strike="noStrike" sz="1350" u="none">
                  <a:solidFill>
                    <a:srgbClr val="0B1F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50" b="0" i="0" u="none" strike="noStrike">
                <a:solidFill>
                  <a:srgbClr val="26364C"/>
                </a:solidFill>
                <a:latin typeface="+mn-lt"/>
              </a:defRPr>
            </a:pPr>
            <a:endParaRPr lang="en-US"/>
          </a:p>
        </c:txPr>
        <c:crossAx val="2094734552"/>
        <c:crosses val="autoZero"/>
        <c:auto val="1"/>
        <c:lblAlgn val="ctr"/>
        <c:noMultiLvlLbl val="1"/>
      </c:catAx>
      <c:valAx>
        <c:axId val="2094734552"/>
        <c:scaling>
          <c:orientation val="minMax"/>
          <c:max val="0.36"/>
          <c:min val="0.25"/>
        </c:scaling>
        <c:delete val="0"/>
        <c:axPos val="l"/>
        <c:majorGridlines>
          <c:spPr>
            <a:ln w="9525" cap="flat">
              <a:solidFill>
                <a:srgbClr val="B8C4D3"/>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50" b="0" i="0" u="none" strike="noStrike">
                <a:solidFill>
                  <a:srgbClr val="26364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5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mn-lt"/>
              </a:defRPr>
            </a:pPr>
            <a:r>
              <a:rPr sz="1400" b="0" i="0" u="none" strike="noStrike">
                <a:solidFill>
                  <a:srgbClr val="0B1F3A"/>
                </a:solidFill>
                <a:latin typeface="+mn-lt"/>
              </a:rPr>
              <a:t>Review rate by score decile (10 = highest scores)</a:t>
            </a:r>
          </a:p>
        </c:rich>
      </c:tx>
      <c:layout/>
      <c:overlay val="0"/>
    </c:title>
    <c:autoTitleDeleted val="0"/>
    <c:plotArea>
      <c:layout/>
      <c:barChart>
        <c:barDir val="col"/>
        <c:grouping val="clustered"/>
        <c:varyColors val="0"/>
        <c:ser>
          <c:idx val="0"/>
          <c:order val="0"/>
          <c:tx>
            <c:strRef>
              <c:f>Sheet1!$B$1</c:f>
              <c:strCache>
                <c:ptCount val="1"/>
                <c:pt idx="0">
                  <c:v>Review rate</c:v>
                </c:pt>
              </c:strCache>
            </c:strRef>
          </c:tx>
          <c:spPr>
            <a:solidFill>
              <a:srgbClr val="0B7A7D"/>
            </a:solidFill>
            <a:effectLst/>
          </c:spPr>
          <c:invertIfNegative val="0"/>
          <c:dLbls>
            <c:numFmt formatCode="#,##0" sourceLinked="0"/>
            <c:txPr>
              <a:bodyPr/>
              <a:lstStyle/>
              <a:p>
                <a:pPr>
                  <a:defRPr b="0" i="0" strike="noStrike" sz="1350" u="none">
                    <a:solidFill>
                      <a:srgbClr val="0B1F3A"/>
                    </a:solidFill>
                    <a:latin typeface="+mn-lt"/>
                  </a:defRPr>
                </a:pPr>
              </a:p>
            </c:txPr>
            <c:showLegendKey val="0"/>
            <c:showVal val="0"/>
            <c:showCatName val="0"/>
            <c:showSerName val="0"/>
            <c:showPercent val="0"/>
            <c:showBubbleSize val="0"/>
            <c:showLeaderLines val="0"/>
          </c:dLbls>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7.5</c:v>
                </c:pt>
                <c:pt idx="1">
                  <c:v>8.200000000000001</c:v>
                </c:pt>
                <c:pt idx="2">
                  <c:v>9.2</c:v>
                </c:pt>
                <c:pt idx="3">
                  <c:v>10.7</c:v>
                </c:pt>
                <c:pt idx="4">
                  <c:v>22.900000000000002</c:v>
                </c:pt>
                <c:pt idx="5">
                  <c:v>21.3</c:v>
                </c:pt>
                <c:pt idx="6">
                  <c:v>23.200000000000003</c:v>
                </c:pt>
                <c:pt idx="7">
                  <c:v>25.2</c:v>
                </c:pt>
                <c:pt idx="8">
                  <c:v>32.2</c:v>
                </c:pt>
                <c:pt idx="9">
                  <c:v>40.1</c:v>
                </c:pt>
              </c:numCache>
            </c:numRef>
          </c:val>
        </c:ser>
        <c:dLbls>
          <c:numFmt formatCode="#,##0" sourceLinked="0"/>
          <c:txPr>
            <a:bodyPr/>
            <a:lstStyle/>
            <a:p>
              <a:pPr>
                <a:defRPr b="0" i="0" strike="noStrike" sz="1350" u="none">
                  <a:solidFill>
                    <a:srgbClr val="0B1F3A"/>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lineChart>
        <c:varyColors val="0"/>
        <c:ser>
          <c:idx val="1"/>
          <c:order val="1"/>
          <c:tx>
            <c:strRef>
              <c:f>Sheet1!$C$1</c:f>
              <c:strCache>
                <c:ptCount val="1"/>
                <c:pt idx="0">
                  <c:v>Base rate (20.1%)</c:v>
                </c:pt>
              </c:strCache>
            </c:strRef>
          </c:tx>
          <c:spPr>
            <a:solidFill>
              <a:srgbClr val="C0283F"/>
            </a:solidFill>
            <a:ln w="25400" cap="flat">
              <a:solidFill>
                <a:srgbClr val="C0283F"/>
              </a:solidFill>
              <a:prstDash val="solid"/>
              <a:round/>
            </a:ln>
            <a:effectLst/>
          </c:spPr>
          <c:invertIfNegative val="0"/>
          <c:dLbls>
            <c:numFmt formatCode="#,##0" sourceLinked="0"/>
            <c:txPr>
              <a:bodyPr/>
              <a:lstStyle/>
              <a:p>
                <a:pPr>
                  <a:defRPr b="0" i="0" strike="noStrike" sz="1350" u="none">
                    <a:solidFill>
                      <a:srgbClr val="0B1F3A"/>
                    </a:solidFill>
                    <a:latin typeface="+mn-lt"/>
                  </a:defRPr>
                </a:pPr>
              </a:p>
            </c:txPr>
            <c:showLegendKey val="0"/>
            <c:showVal val="0"/>
            <c:showCatName val="0"/>
            <c:showSerName val="0"/>
            <c:showPercent val="0"/>
            <c:showBubbleSize val="0"/>
            <c:showLeaderLines val="0"/>
          </c:dLbls>
          <c:marker>
            <c:symbol val="none"/>
            <c:size val="6"/>
            <c:spPr>
              <a:solidFill>
                <a:srgbClr val="C0283F"/>
              </a:solidFill>
              <a:ln w="9525" cap="flat">
                <a:solidFill>
                  <a:srgbClr val="C0283F"/>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20.1</c:v>
                </c:pt>
                <c:pt idx="1">
                  <c:v>20.1</c:v>
                </c:pt>
                <c:pt idx="2">
                  <c:v>20.1</c:v>
                </c:pt>
                <c:pt idx="3">
                  <c:v>20.1</c:v>
                </c:pt>
                <c:pt idx="4">
                  <c:v>20.1</c:v>
                </c:pt>
                <c:pt idx="5">
                  <c:v>20.1</c:v>
                </c:pt>
                <c:pt idx="6">
                  <c:v>20.1</c:v>
                </c:pt>
                <c:pt idx="7">
                  <c:v>20.1</c:v>
                </c:pt>
                <c:pt idx="8">
                  <c:v>20.1</c:v>
                </c:pt>
                <c:pt idx="9">
                  <c:v>20.1</c:v>
                </c:pt>
              </c:numCache>
            </c:numRef>
          </c:val>
          <c:smooth val="0"/>
        </c:ser>
        <c:dLbls>
          <c:numFmt formatCode="#,##0" sourceLinked="0"/>
          <c:txPr>
            <a:bodyPr/>
            <a:lstStyle/>
            <a:p>
              <a:pPr>
                <a:defRPr b="0" i="0" strike="noStrike" sz="1350" u="none">
                  <a:solidFill>
                    <a:srgbClr val="0B1F3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50" b="0" i="0" u="none" strike="noStrike">
                    <a:solidFill>
                      <a:srgbClr val="26364C"/>
                    </a:solidFill>
                    <a:latin typeface="+mn-lt"/>
                  </a:defRPr>
                </a:pPr>
                <a:r>
                  <a:rPr sz="1250" b="0" i="0" u="none" strike="noStrike">
                    <a:solidFill>
                      <a:srgbClr val="26364C"/>
                    </a:solidFill>
                    <a:latin typeface="+mn-lt"/>
                  </a:rPr>
                  <a:t>Score decile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50" b="0" i="0" u="none" strike="noStrike">
                <a:solidFill>
                  <a:srgbClr val="26364C"/>
                </a:solidFill>
                <a:latin typeface="+mn-lt"/>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9525" cap="flat">
              <a:solidFill>
                <a:srgbClr val="B8C4D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50" b="0" i="0" u="none" strike="noStrike">
                <a:solidFill>
                  <a:srgbClr val="26364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5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ML model</c:v>
                </c:pt>
              </c:strCache>
            </c:strRef>
          </c:tx>
          <c:spPr>
            <a:solidFill>
              <a:srgbClr val="0B7A7D"/>
            </a:solidFill>
            <a:effectLst/>
          </c:spPr>
          <c:invertIfNegative val="0"/>
          <c:dLbls>
            <c:numFmt formatCode="0&quot;%&quot;" sourceLinked="0"/>
            <c:txPr>
              <a:bodyPr/>
              <a:lstStyle/>
              <a:p>
                <a:pPr>
                  <a:defRPr b="0" i="0" strike="noStrike" sz="1350" u="none">
                    <a:solidFill>
                      <a:srgbClr val="0B1F3A"/>
                    </a:solidFill>
                    <a:latin typeface="+mn-lt"/>
                  </a:defRPr>
                </a:pPr>
              </a:p>
            </c:txPr>
            <c:showLegendKey val="0"/>
            <c:showVal val="1"/>
            <c:showCatName val="0"/>
            <c:showSerName val="0"/>
            <c:showPercent val="0"/>
            <c:showBubbleSize val="0"/>
            <c:showLeaderLines val="0"/>
          </c:dLbls>
          <c:cat>
            <c:multiLvlStrRef>
              <c:f>Sheet1!$A$2:$A$5</c:f>
              <c:multiLvlStrCache>
                <c:ptCount val="4"/>
                <c:lvl>
                  <c:pt idx="0">
                    <c:v>Precision</c:v>
                  </c:pt>
                  <c:pt idx="1">
                    <c:v>Recall</c:v>
                  </c:pt>
                  <c:pt idx="2">
                    <c:v>F1</c:v>
                  </c:pt>
                  <c:pt idx="3">
                    <c:v>Share flagged</c:v>
                  </c:pt>
                </c:lvl>
              </c:multiLvlStrCache>
            </c:multiLvlStrRef>
          </c:cat>
          <c:val>
            <c:numRef>
              <c:f>Sheet1!$B$2:$B$5</c:f>
              <c:numCache>
                <c:formatCode>General</c:formatCode>
                <c:ptCount val="4"/>
                <c:pt idx="0">
                  <c:v>33.239999999999995</c:v>
                </c:pt>
                <c:pt idx="1">
                  <c:v>44.629999999999995</c:v>
                </c:pt>
                <c:pt idx="2">
                  <c:v>38.11</c:v>
                </c:pt>
                <c:pt idx="3">
                  <c:v>26.93</c:v>
                </c:pt>
              </c:numCache>
            </c:numRef>
          </c:val>
        </c:ser>
        <c:ser>
          <c:idx val="1"/>
          <c:order val="1"/>
          <c:tx>
            <c:strRef>
              <c:f>Sheet1!$C$1</c:f>
              <c:strCache>
                <c:ptCount val="1"/>
                <c:pt idx="0">
                  <c:v>Simple rule</c:v>
                </c:pt>
              </c:strCache>
            </c:strRef>
          </c:tx>
          <c:spPr>
            <a:solidFill>
              <a:srgbClr val="5B7C99"/>
            </a:solidFill>
            <a:effectLst/>
          </c:spPr>
          <c:invertIfNegative val="0"/>
          <c:dLbls>
            <c:numFmt formatCode="0&quot;%&quot;" sourceLinked="0"/>
            <c:txPr>
              <a:bodyPr/>
              <a:lstStyle/>
              <a:p>
                <a:pPr>
                  <a:defRPr b="0" i="0" strike="noStrike" sz="1350" u="none">
                    <a:solidFill>
                      <a:srgbClr val="0B1F3A"/>
                    </a:solidFill>
                    <a:latin typeface="+mn-lt"/>
                  </a:defRPr>
                </a:pPr>
              </a:p>
            </c:txPr>
            <c:showLegendKey val="0"/>
            <c:showVal val="1"/>
            <c:showCatName val="0"/>
            <c:showSerName val="0"/>
            <c:showPercent val="0"/>
            <c:showBubbleSize val="0"/>
            <c:showLeaderLines val="0"/>
          </c:dLbls>
          <c:cat>
            <c:multiLvlStrRef>
              <c:f>Sheet1!$A$2:$A$5</c:f>
              <c:multiLvlStrCache>
                <c:ptCount val="4"/>
                <c:lvl>
                  <c:pt idx="0">
                    <c:v>Precision</c:v>
                  </c:pt>
                  <c:pt idx="1">
                    <c:v>Recall</c:v>
                  </c:pt>
                  <c:pt idx="2">
                    <c:v>F1</c:v>
                  </c:pt>
                  <c:pt idx="3">
                    <c:v>Share flagged</c:v>
                  </c:pt>
                </c:lvl>
              </c:multiLvlStrCache>
            </c:multiLvlStrRef>
          </c:cat>
          <c:val>
            <c:numRef>
              <c:f>Sheet1!$C$2:$C$5</c:f>
              <c:numCache>
                <c:formatCode>General</c:formatCode>
                <c:ptCount val="4"/>
                <c:pt idx="0">
                  <c:v>29.32</c:v>
                </c:pt>
                <c:pt idx="1">
                  <c:v>52.23</c:v>
                </c:pt>
                <c:pt idx="2">
                  <c:v>37.55</c:v>
                </c:pt>
                <c:pt idx="3">
                  <c:v>35.74</c:v>
                </c:pt>
              </c:numCache>
            </c:numRef>
          </c:val>
        </c:ser>
        <c:dLbls>
          <c:numFmt formatCode="0&quot;%&quot;" sourceLinked="0"/>
          <c:txPr>
            <a:bodyPr/>
            <a:lstStyle/>
            <a:p>
              <a:pPr>
                <a:defRPr b="0" i="0" strike="noStrike" sz="1350" u="none">
                  <a:solidFill>
                    <a:srgbClr val="0B1F3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50" b="0" i="0" u="none" strike="noStrike">
                <a:solidFill>
                  <a:srgbClr val="26364C"/>
                </a:solidFill>
                <a:latin typeface="+mn-lt"/>
              </a:defRPr>
            </a:pPr>
            <a:endParaRPr lang="en-US"/>
          </a:p>
        </c:txPr>
        <c:crossAx val="2094734552"/>
        <c:crosses val="autoZero"/>
        <c:auto val="1"/>
        <c:lblAlgn val="ctr"/>
        <c:noMultiLvlLbl val="1"/>
      </c:catAx>
      <c:valAx>
        <c:axId val="2094734552"/>
        <c:scaling>
          <c:orientation val="minMax"/>
          <c:max val="7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50" b="0" i="0" u="none" strike="noStrike">
                <a:solidFill>
                  <a:srgbClr val="26364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5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mn-lt"/>
              </a:defRPr>
            </a:pPr>
            <a:r>
              <a:rPr sz="1400" b="0" i="0" u="none" strike="noStrike">
                <a:solidFill>
                  <a:srgbClr val="0B1F3A"/>
                </a:solidFill>
                <a:latin typeface="+mn-lt"/>
              </a:rPr>
              <a:t>Tests by area (all passing)</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0B7A7D"/>
            </a:solidFill>
            <a:effectLst/>
          </c:spPr>
          <c:invertIfNegative val="0"/>
          <c:dLbls>
            <c:numFmt formatCode="#,##0" sourceLinked="0"/>
            <c:txPr>
              <a:bodyPr/>
              <a:lstStyle/>
              <a:p>
                <a:pPr>
                  <a:defRPr b="0" i="0" strike="noStrike" sz="1350" u="none">
                    <a:solidFill>
                      <a:srgbClr val="0B1F3A"/>
                    </a:solidFill>
                    <a:latin typeface="+mn-lt"/>
                  </a:defRPr>
                </a:pPr>
              </a:p>
            </c:txPr>
            <c:showLegendKey val="0"/>
            <c:showVal val="1"/>
            <c:showCatName val="0"/>
            <c:showSerName val="0"/>
            <c:showPercent val="0"/>
            <c:showBubbleSize val="0"/>
            <c:showLeaderLines val="0"/>
          </c:dLbls>
          <c:cat>
            <c:multiLvlStrRef>
              <c:f>Sheet1!$A$2:$A$11</c:f>
              <c:multiLvlStrCache>
                <c:ptCount val="10"/>
                <c:lvl>
                  <c:pt idx="0">
                    <c:v>API</c:v>
                  </c:pt>
                  <c:pt idx="1">
                    <c:v>Invalid data types</c:v>
                  </c:pt>
                  <c:pt idx="2">
                    <c:v>Model loading</c:v>
                  </c:pt>
                  <c:pt idx="3">
                    <c:v>Empty input</c:v>
                  </c:pt>
                  <c:pt idx="4">
                    <c:v>Prediction</c:v>
                  </c:pt>
                  <c:pt idx="5">
                    <c:v>Missing values</c:v>
                  </c:pt>
                  <c:pt idx="6">
                    <c:v>Output format</c:v>
                  </c:pt>
                  <c:pt idx="7">
                    <c:v>Reproducibility</c:v>
                  </c:pt>
                  <c:pt idx="8">
                    <c:v>Valid input</c:v>
                  </c:pt>
                  <c:pt idx="9">
                    <c:v>Unexpected categories</c:v>
                  </c:pt>
                </c:lvl>
              </c:multiLvlStrCache>
            </c:multiLvlStrRef>
          </c:cat>
          <c:val>
            <c:numRef>
              <c:f>Sheet1!$B$2:$B$11</c:f>
              <c:numCache>
                <c:formatCode>General</c:formatCode>
                <c:ptCount val="10"/>
                <c:pt idx="0">
                  <c:v>9</c:v>
                </c:pt>
                <c:pt idx="1">
                  <c:v>7</c:v>
                </c:pt>
                <c:pt idx="2">
                  <c:v>5</c:v>
                </c:pt>
                <c:pt idx="3">
                  <c:v>4</c:v>
                </c:pt>
                <c:pt idx="4">
                  <c:v>4</c:v>
                </c:pt>
                <c:pt idx="5">
                  <c:v>3</c:v>
                </c:pt>
                <c:pt idx="6">
                  <c:v>3</c:v>
                </c:pt>
                <c:pt idx="7">
                  <c:v>3</c:v>
                </c:pt>
                <c:pt idx="8">
                  <c:v>2</c:v>
                </c:pt>
                <c:pt idx="9">
                  <c:v>2</c:v>
                </c:pt>
              </c:numCache>
            </c:numRef>
          </c:val>
        </c:ser>
        <c:dLbls>
          <c:numFmt formatCode="#,##0" sourceLinked="0"/>
          <c:txPr>
            <a:bodyPr/>
            <a:lstStyle/>
            <a:p>
              <a:pPr>
                <a:defRPr b="0" i="0" strike="noStrike" sz="1350" u="none">
                  <a:solidFill>
                    <a:srgbClr val="0B1F3A"/>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6364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50" b="0" i="0" u="none" strike="noStrike">
                <a:solidFill>
                  <a:srgbClr val="26364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Week 4 close-out of the ML engineering track: what we built, how well it works, how we tested it, and what we need from you. One framing point up front: the data is synthetic and the label is an educational risk-review flag, so everything here demonstrates a reliable workflow, not real-world fraud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to remember. 12,000 transactions went through the workflow. On March data the model never saw during development it reaches ROC-AUC 0.68 and flags 27 percent of transactions. All 42 test scenarios pass. The honest summary: the signal is real but modest, so our recommendation is a pilot as a triage aid with a human in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need is prioritisation. If a review team can only look at a fraction of transactions, a ranked and explainable queue is worth more than a yes/no rule. The 30 percent capacity is our planning assumption, and I will ask you to confirm it at the end because it directly sets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request follows the same seven stages. The red stage is the safety gate: validation rejects unusable rows with a reason rather than guessing. Preprocessing and features live inside the saved model, so training and serving cannot drift apart. The same scoring code serves the command line, the API and the notebook, so they always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modelling we checked integrity: no duplicates, no orphan customers, no invalid amounts. The only missing values are Device and Location, and the data dictionary explains those as expected. About 20 percent of transactions carry the review flag, so accuracy alone would be misleading: a model that flags nothing would be 80 percent accurate and useless.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raw pattern in the data, before any model. The overall flag rate is 19.6 percent. International transactions are flagged 36.9 percent of the time against 18.9 percent for domestic. Night-time hours run 28 percent against about 17 percent for the rest of the day. Transfers and cash withdrawals are the riskiest types, and only the top fifth of amounts shows an elevated rate. Red bars are above the overall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design choices protect the credibility of the numbers. First, we excluded the transaction-status field because it is an outcome, which would leak the answer. Second, we excluded gender and all personal identifiers. Third, we mimic real deployment: everything was tuned on January and February, and March was scored once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three algorithms, each with and without customer attributes, using five-fold cross-validation on January and February. We rank by PR-AUC because only about one in five transactions is a positive. Gradient boosting wins. Notably, adding customer attributes did not improve anything, so the shipped model uses transaction fields only. The value axis starts at 0.25 to make the differences visible; they are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March results, data the model never saw during selection. ROC-AUC 0.68. Precision is 33 percent: a third of flagged transactions are review cases, against a 20 percent base rate. The chart on the right is the most useful view for a manager: sort transactions by score and split into ten groups. The top decile has a 40 percent review rate, twice the average. The bottom four deciles sit around 8 to 11 percent. So the model is good at pushing safe-looking items down and risky items up, but it is not a sharp instrument.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benchmarked against a transparent business rule: flag anything international, at night, or in the top ten percent by amount. The model flags fewer transactions with higher precision, which saves reviewer time, but the rule actually catches slightly more cases and the F1 scores are nearly the same. I want leadership to see this clearly: the machine learning adds a ranking and a smaller queue, not a step change. Because the data is synthetic, the lesson is about the workflow rather than the headline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a decision we made, not just a result. Our first threshold maximised F1 and flagged 59 percent of transactions, which is unusable. We added a review-capacity cap of 30 percent, which gives a queue of 27 percent. The four boxes are March outcomes: 370 review cases caught, 459 missed, 743 flagged unnecessarily, and 2,561 correctly left alone. If the real review capacity is different, the cap is a single setting and the model is retrained.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wrote 42 scenarios covering valid input, missing values, unexpected categories, invalid data types, empty input, model loading, prediction behaviour, output format, reproducibility and the API. They all pass, and each documented result comes from an actual run. Testing also surfaced two real issues: the unusable 59 percent queue, which led to the capacity cap, and one test asserting the wrong thing, which we corrected. The full table is in the test results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outputs from the live scoring workflow. A routine daytime card purchase scores 0.31 and is not flagged. A night-time transfer scores 0.69, a large ATM withdrawal 0.74, and a large international transfer at 2am scores 0.84, all flagged High. The last row shows the safety behaviour: an amount typed as text is rejected with a clear reason instead of being scored. The Databricks notebook lets you try your own scenarios with widgets.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status table I would rather you hear from me. What is done and verified: the workflow, the model, 42 tests, the API, and reproducibility, including a clean-environment install. What is not done: the Data Science team's final model was not available to us, so we did not claim integration. We did define the interface so it can be dropped in. We also have not built the Docker image or load-tested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limitations, each with a mitigation. The most important is the first: this is synthetic data with an educational label, so none of these numbers should be read as real-world fraud performance. Second, accuracy is modest and close to a simple rule. The remaining items are short history, unvalidated bands, the review-capacity assumption, and a fairness audit we have not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workflow is built, tested and reproducible. Our recommendation is a human-in-the-loop pilot. I need four things from you: confirmation of the real review capacity, access to the Data Science model so we can integrate it properly, approval for the pilot, and an owner for the fairness review. Thank you, and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754880" cy="15544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3063240"/>
            <a:ext cx="4754880" cy="82296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1200" dirty="0">
                <a:solidFill>
                  <a:schemeClr val="accent4"/>
                </a:solidFill>
              </a:rPr>
              <a:t>FinTrust Risk Review  |  ML Engineering  |  Week 4</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1200" dirty="0">
                <a:solidFill>
                  <a:schemeClr val="accent6"/>
                </a:solidFill>
              </a:rPr>
              <a:t>FinTrust Risk Review  |  ML Engineering  |  Week 4</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7" Type="http://schemas.openxmlformats.org/officeDocument/2006/relationships/chart" Target="/ppt/charts/chart1.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6-1.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754880" cy="1554480"/>
          </a:xfrm>
          <a:prstGeom prst="rect">
            <a:avLst/>
          </a:prstGeom>
          <a:noFill/>
          <a:ln/>
        </p:spPr>
        <p:txBody>
          <a:bodyPr wrap="square" lIns="0" tIns="0" rIns="0" bIns="0" rtlCol="0" anchor="t"/>
          <a:lstStyle/>
          <a:p>
            <a:pPr algn="l" indent="0" marL="0">
              <a:buNone/>
            </a:pPr>
            <a:r>
              <a:rPr lang="en-US" sz="3400" b="1" dirty="0">
                <a:solidFill>
                  <a:schemeClr val="bg1"/>
                </a:solidFill>
              </a:rPr>
              <a:t>FinTrust Risk Review: Final ML Workflow and Validation</a:t>
            </a:r>
            <a:endParaRPr lang="en-US" sz="3400" dirty="0"/>
          </a:p>
        </p:txBody>
      </p:sp>
      <p:sp>
        <p:nvSpPr>
          <p:cNvPr id="3" name="Text 0"/>
          <p:cNvSpPr/>
          <p:nvPr>
            <p:ph idx="101" type="body" hasCustomPrompt="1"/>
          </p:nvPr>
        </p:nvSpPr>
        <p:spPr>
          <a:xfrm>
            <a:off x="548640" y="3063240"/>
            <a:ext cx="4754880" cy="822960"/>
          </a:xfrm>
          <a:prstGeom prst="rect">
            <a:avLst/>
          </a:prstGeom>
          <a:noFill/>
          <a:ln/>
        </p:spPr>
        <p:txBody>
          <a:bodyPr wrap="square" lIns="0" tIns="0" rIns="0" bIns="0" rtlCol="0" anchor="t"/>
          <a:lstStyle/>
          <a:p>
            <a:pPr algn="l" indent="0" marL="0">
              <a:buNone/>
            </a:pPr>
            <a:r>
              <a:rPr lang="en-US" sz="1600" dirty="0">
                <a:solidFill>
                  <a:schemeClr val="bg2"/>
                </a:solidFill>
              </a:rPr>
              <a:t>Machine Learning Engineering Track  |  Week 4 leadership briefing</a:t>
            </a:r>
            <a:endParaRPr lang="en-US" sz="1600" dirty="0"/>
          </a:p>
        </p:txBody>
      </p:sp>
      <p:sp>
        <p:nvSpPr>
          <p:cNvPr id="4" name="Ring"/>
          <p:cNvSpPr/>
          <p:nvPr/>
        </p:nvSpPr>
        <p:spPr>
          <a:xfrm>
            <a:off x="5303520" y="685800"/>
            <a:ext cx="3291840" cy="3291840"/>
          </a:xfrm>
          <a:prstGeom prst="ellipse">
            <a:avLst/>
          </a:prstGeom>
          <a:solidFill>
            <a:srgbClr val="12355B"/>
          </a:solidFill>
          <a:ln w="9525">
            <a:solidFill>
              <a:srgbClr val="8FB8DE">
                <a:alpha val="50000"/>
              </a:srgbClr>
            </a:solidFill>
            <a:prstDash val="solid"/>
          </a:ln>
        </p:spPr>
      </p:sp>
      <p:sp>
        <p:nvSpPr>
          <p:cNvPr id="5" name="Ring"/>
          <p:cNvSpPr/>
          <p:nvPr/>
        </p:nvSpPr>
        <p:spPr>
          <a:xfrm>
            <a:off x="5715000" y="1097280"/>
            <a:ext cx="2468880" cy="2468880"/>
          </a:xfrm>
          <a:prstGeom prst="ellipse">
            <a:avLst/>
          </a:prstGeom>
          <a:solidFill>
            <a:srgbClr val="5B7C99">
              <a:alpha val="45000"/>
            </a:srgbClr>
          </a:solidFill>
          <a:ln w="9525">
            <a:solidFill>
              <a:srgbClr val="8FB8DE">
                <a:alpha val="50000"/>
              </a:srgbClr>
            </a:solidFill>
            <a:prstDash val="solid"/>
          </a:ln>
        </p:spPr>
      </p:sp>
      <p:sp>
        <p:nvSpPr>
          <p:cNvPr id="6" name="Ring"/>
          <p:cNvSpPr/>
          <p:nvPr/>
        </p:nvSpPr>
        <p:spPr>
          <a:xfrm>
            <a:off x="6126480" y="1508760"/>
            <a:ext cx="1645920" cy="1645920"/>
          </a:xfrm>
          <a:prstGeom prst="ellipse">
            <a:avLst/>
          </a:prstGeom>
          <a:solidFill>
            <a:srgbClr val="0B7A7D">
              <a:alpha val="65000"/>
            </a:srgbClr>
          </a:solidFill>
          <a:ln w="9525">
            <a:solidFill>
              <a:srgbClr val="8FB8DE">
                <a:alpha val="50000"/>
              </a:srgbClr>
            </a:solidFill>
            <a:prstDash val="solid"/>
          </a:ln>
        </p:spPr>
      </p:sp>
      <p:pic>
        <p:nvPicPr>
          <p:cNvPr id="7" name="Image 0" descr="Shield">    </p:cNvPr>
          <p:cNvPicPr>
            <a:picLocks noChangeAspect="1"/>
          </p:cNvPicPr>
          <p:nvPr/>
        </p:nvPicPr>
        <p:blipFill>
          <a:blip r:embed="rId1"/>
          <a:stretch>
            <a:fillRect/>
          </a:stretch>
        </p:blipFill>
        <p:spPr>
          <a:xfrm>
            <a:off x="6446520" y="1828800"/>
            <a:ext cx="1005840" cy="1005840"/>
          </a:xfrm>
          <a:prstGeom prst="rect">
            <a:avLst/>
          </a:prstGeom>
        </p:spPr>
      </p:pic>
      <p:sp>
        <p:nvSpPr>
          <p:cNvPr id="8" name="Text 5"/>
          <p:cNvSpPr txBox="1"/>
          <p:nvPr/>
        </p:nvSpPr>
        <p:spPr>
          <a:xfrm>
            <a:off x="548640" y="4343400"/>
            <a:ext cx="6035040" cy="457200"/>
          </a:xfrm>
          <a:prstGeom prst="rect">
            <a:avLst/>
          </a:prstGeom>
          <a:noFill/>
          <a:ln/>
        </p:spPr>
        <p:txBody>
          <a:bodyPr wrap="square" lIns="0" tIns="0" rIns="0" bIns="0" rtlCol="0" anchor="ctr"/>
          <a:lstStyle/>
          <a:p>
            <a:pPr indent="0" marL="0">
              <a:buNone/>
            </a:pPr>
            <a:r>
              <a:rPr lang="en-US" sz="1350" i="1" dirty="0">
                <a:solidFill>
                  <a:schemeClr val="accent6"/>
                </a:solidFill>
                <a:latin typeface="Calibri" pitchFamily="34" charset="0"/>
                <a:ea typeface="Calibri" pitchFamily="34" charset="-122"/>
                <a:cs typeface="Calibri" pitchFamily="34" charset="-120"/>
              </a:rPr>
              <a:t>All data are synthetic training data. The risk-review label is educational, not a real fraud determination.</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600" b="1" dirty="0">
                <a:solidFill>
                  <a:schemeClr val="tx1"/>
                </a:solidFill>
              </a:rPr>
              <a:t>Executive summary</a:t>
            </a:r>
            <a:endParaRPr lang="en-US" sz="2600" dirty="0"/>
          </a:p>
        </p:txBody>
      </p:sp>
      <p:sp>
        <p:nvSpPr>
          <p:cNvPr id="3" name="Card"/>
          <p:cNvSpPr/>
          <p:nvPr/>
        </p:nvSpPr>
        <p:spPr>
          <a:xfrm>
            <a:off x="457200" y="1280160"/>
            <a:ext cx="1920240" cy="1371600"/>
          </a:xfrm>
          <a:prstGeom prst="roundRect">
            <a:avLst>
              <a:gd name="adj" fmla="val 5333"/>
            </a:avLst>
          </a:prstGeom>
          <a:solidFill>
            <a:schemeClr val="bg2"/>
          </a:solidFill>
          <a:ln/>
          <a:effectLst>
            <a:outerShdw sx="100000" sy="100000" kx="0" ky="0" algn="bl" rotWithShape="0" blurRad="101600" dist="25400" dir="5400000">
              <a:srgbClr val="000000">
                <a:alpha val="12000"/>
              </a:srgbClr>
            </a:outerShdw>
          </a:effectLst>
        </p:spPr>
      </p:sp>
      <p:sp>
        <p:nvSpPr>
          <p:cNvPr id="4" name="Text 2"/>
          <p:cNvSpPr txBox="1"/>
          <p:nvPr/>
        </p:nvSpPr>
        <p:spPr>
          <a:xfrm>
            <a:off x="457200" y="1417320"/>
            <a:ext cx="1920240" cy="64008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12,000</a:t>
            </a:r>
            <a:endParaRPr lang="en-US" sz="3600" dirty="0"/>
          </a:p>
        </p:txBody>
      </p:sp>
      <p:sp>
        <p:nvSpPr>
          <p:cNvPr id="5" name="Text 3"/>
          <p:cNvSpPr txBox="1"/>
          <p:nvPr/>
        </p:nvSpPr>
        <p:spPr>
          <a:xfrm>
            <a:off x="594360" y="2057400"/>
            <a:ext cx="1645920" cy="50292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transactions analysed</a:t>
            </a:r>
            <a:endParaRPr lang="en-US" sz="1400" dirty="0"/>
          </a:p>
        </p:txBody>
      </p:sp>
      <p:sp>
        <p:nvSpPr>
          <p:cNvPr id="6" name="Card"/>
          <p:cNvSpPr/>
          <p:nvPr/>
        </p:nvSpPr>
        <p:spPr>
          <a:xfrm>
            <a:off x="2560320" y="1280160"/>
            <a:ext cx="1920240" cy="1371600"/>
          </a:xfrm>
          <a:prstGeom prst="roundRect">
            <a:avLst>
              <a:gd name="adj" fmla="val 5333"/>
            </a:avLst>
          </a:prstGeom>
          <a:solidFill>
            <a:schemeClr val="bg2"/>
          </a:solidFill>
          <a:ln/>
          <a:effectLst>
            <a:outerShdw sx="100000" sy="100000" kx="0" ky="0" algn="bl" rotWithShape="0" blurRad="101600" dist="25400" dir="5400000">
              <a:srgbClr val="000000">
                <a:alpha val="12000"/>
              </a:srgbClr>
            </a:outerShdw>
          </a:effectLst>
        </p:spPr>
      </p:sp>
      <p:sp>
        <p:nvSpPr>
          <p:cNvPr id="7" name="Text 5"/>
          <p:cNvSpPr txBox="1"/>
          <p:nvPr/>
        </p:nvSpPr>
        <p:spPr>
          <a:xfrm>
            <a:off x="2560320" y="1417320"/>
            <a:ext cx="1920240" cy="64008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0.68</a:t>
            </a:r>
            <a:endParaRPr lang="en-US" sz="3600" dirty="0"/>
          </a:p>
        </p:txBody>
      </p:sp>
      <p:sp>
        <p:nvSpPr>
          <p:cNvPr id="8" name="Text 6"/>
          <p:cNvSpPr txBox="1"/>
          <p:nvPr/>
        </p:nvSpPr>
        <p:spPr>
          <a:xfrm>
            <a:off x="2697480" y="2057400"/>
            <a:ext cx="1645920" cy="50292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ROC-AUC on unseen March data</a:t>
            </a:r>
            <a:endParaRPr lang="en-US" sz="1400" dirty="0"/>
          </a:p>
        </p:txBody>
      </p:sp>
      <p:sp>
        <p:nvSpPr>
          <p:cNvPr id="9" name="Card"/>
          <p:cNvSpPr/>
          <p:nvPr/>
        </p:nvSpPr>
        <p:spPr>
          <a:xfrm>
            <a:off x="4663440" y="1280160"/>
            <a:ext cx="1920240" cy="1371600"/>
          </a:xfrm>
          <a:prstGeom prst="roundRect">
            <a:avLst>
              <a:gd name="adj" fmla="val 5333"/>
            </a:avLst>
          </a:prstGeom>
          <a:solidFill>
            <a:schemeClr val="bg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4663440" y="1417320"/>
            <a:ext cx="1920240" cy="64008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42 / 42</a:t>
            </a:r>
            <a:endParaRPr lang="en-US" sz="3600" dirty="0"/>
          </a:p>
        </p:txBody>
      </p:sp>
      <p:sp>
        <p:nvSpPr>
          <p:cNvPr id="11" name="Text 9"/>
          <p:cNvSpPr txBox="1"/>
          <p:nvPr/>
        </p:nvSpPr>
        <p:spPr>
          <a:xfrm>
            <a:off x="4800600" y="2057400"/>
            <a:ext cx="1645920" cy="50292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end-to-end tests passed</a:t>
            </a:r>
            <a:endParaRPr lang="en-US" sz="1400" dirty="0"/>
          </a:p>
        </p:txBody>
      </p:sp>
      <p:sp>
        <p:nvSpPr>
          <p:cNvPr id="12" name="Card"/>
          <p:cNvSpPr/>
          <p:nvPr/>
        </p:nvSpPr>
        <p:spPr>
          <a:xfrm>
            <a:off x="6766560" y="1280160"/>
            <a:ext cx="1920240" cy="1371600"/>
          </a:xfrm>
          <a:prstGeom prst="roundRect">
            <a:avLst>
              <a:gd name="adj" fmla="val 5333"/>
            </a:avLst>
          </a:prstGeom>
          <a:solidFill>
            <a:schemeClr val="bg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6766560" y="1417320"/>
            <a:ext cx="1920240" cy="64008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27%</a:t>
            </a:r>
            <a:endParaRPr lang="en-US" sz="3600" dirty="0"/>
          </a:p>
        </p:txBody>
      </p:sp>
      <p:sp>
        <p:nvSpPr>
          <p:cNvPr id="14" name="Text 12"/>
          <p:cNvSpPr txBox="1"/>
          <p:nvPr/>
        </p:nvSpPr>
        <p:spPr>
          <a:xfrm>
            <a:off x="6903720" y="2057400"/>
            <a:ext cx="1645920" cy="50292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of transactions flagged for review</a:t>
            </a:r>
            <a:endParaRPr lang="en-US" sz="1400" dirty="0"/>
          </a:p>
        </p:txBody>
      </p:sp>
      <p:sp>
        <p:nvSpPr>
          <p:cNvPr id="15" name="Icon circle"/>
          <p:cNvSpPr/>
          <p:nvPr/>
        </p:nvSpPr>
        <p:spPr>
          <a:xfrm>
            <a:off x="457200" y="3017520"/>
            <a:ext cx="420624" cy="420624"/>
          </a:xfrm>
          <a:prstGeom prst="ellipse">
            <a:avLst/>
          </a:prstGeom>
          <a:solidFill>
            <a:srgbClr val="0B7A7D"/>
          </a:solidFill>
          <a:ln/>
        </p:spPr>
      </p:sp>
      <p:pic>
        <p:nvPicPr>
          <p:cNvPr id="16" name="Image 0" descr="FaCheckCircle">    </p:cNvPr>
          <p:cNvPicPr>
            <a:picLocks noChangeAspect="1"/>
          </p:cNvPicPr>
          <p:nvPr/>
        </p:nvPicPr>
        <p:blipFill>
          <a:blip r:embed="rId1"/>
          <a:stretch>
            <a:fillRect/>
          </a:stretch>
        </p:blipFill>
        <p:spPr>
          <a:xfrm>
            <a:off x="562356" y="3122676"/>
            <a:ext cx="210312" cy="210312"/>
          </a:xfrm>
          <a:prstGeom prst="rect">
            <a:avLst/>
          </a:prstGeom>
        </p:spPr>
      </p:pic>
      <p:sp>
        <p:nvSpPr>
          <p:cNvPr id="17" name="Text 14"/>
          <p:cNvSpPr txBox="1"/>
          <p:nvPr/>
        </p:nvSpPr>
        <p:spPr>
          <a:xfrm>
            <a:off x="1051560" y="3017520"/>
            <a:ext cx="7635240" cy="420624"/>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Built and verified: </a:t>
            </a:r>
            <a:pPr indent="0" marL="0">
              <a:buNone/>
            </a:pPr>
            <a:r>
              <a:rPr lang="en-US" sz="1400" dirty="0">
                <a:solidFill>
                  <a:schemeClr val="tx1"/>
                </a:solidFill>
                <a:latin typeface="Calibri" pitchFamily="34" charset="0"/>
                <a:ea typeface="Calibri" pitchFamily="34" charset="-122"/>
                <a:cs typeface="Calibri" pitchFamily="34" charset="-120"/>
              </a:rPr>
              <a:t>a 7-stage workflow with CLI, API and notebook access, reproducible from raw data.</a:t>
            </a:r>
            <a:endParaRPr lang="en-US" sz="1400" dirty="0"/>
          </a:p>
        </p:txBody>
      </p:sp>
      <p:sp>
        <p:nvSpPr>
          <p:cNvPr id="18" name="Icon circle"/>
          <p:cNvSpPr/>
          <p:nvPr/>
        </p:nvSpPr>
        <p:spPr>
          <a:xfrm>
            <a:off x="457200" y="3547872"/>
            <a:ext cx="420624" cy="420624"/>
          </a:xfrm>
          <a:prstGeom prst="ellipse">
            <a:avLst/>
          </a:prstGeom>
          <a:solidFill>
            <a:srgbClr val="F2A541"/>
          </a:solidFill>
          <a:ln/>
        </p:spPr>
      </p:sp>
      <p:pic>
        <p:nvPicPr>
          <p:cNvPr id="19" name="Image 1" descr="FaChartLine">    </p:cNvPr>
          <p:cNvPicPr>
            <a:picLocks noChangeAspect="1"/>
          </p:cNvPicPr>
          <p:nvPr/>
        </p:nvPicPr>
        <p:blipFill>
          <a:blip r:embed="rId2"/>
          <a:stretch>
            <a:fillRect/>
          </a:stretch>
        </p:blipFill>
        <p:spPr>
          <a:xfrm>
            <a:off x="562356" y="3653028"/>
            <a:ext cx="210312" cy="210312"/>
          </a:xfrm>
          <a:prstGeom prst="rect">
            <a:avLst/>
          </a:prstGeom>
        </p:spPr>
      </p:pic>
      <p:sp>
        <p:nvSpPr>
          <p:cNvPr id="20" name="Text 16"/>
          <p:cNvSpPr txBox="1"/>
          <p:nvPr/>
        </p:nvSpPr>
        <p:spPr>
          <a:xfrm>
            <a:off x="1051560" y="3547872"/>
            <a:ext cx="7635240" cy="420624"/>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Real but modest signal: </a:t>
            </a:r>
            <a:pPr indent="0" marL="0">
              <a:buNone/>
            </a:pPr>
            <a:r>
              <a:rPr lang="en-US" sz="1400" dirty="0">
                <a:solidFill>
                  <a:schemeClr val="tx1"/>
                </a:solidFill>
                <a:latin typeface="Calibri" pitchFamily="34" charset="0"/>
                <a:ea typeface="Calibri" pitchFamily="34" charset="-122"/>
                <a:cs typeface="Calibri" pitchFamily="34" charset="-120"/>
              </a:rPr>
              <a:t>flagged transactions are 1.65x more likely to be review cases than average.</a:t>
            </a:r>
            <a:endParaRPr lang="en-US" sz="1400" dirty="0"/>
          </a:p>
        </p:txBody>
      </p:sp>
      <p:sp>
        <p:nvSpPr>
          <p:cNvPr id="21" name="Icon circle"/>
          <p:cNvSpPr/>
          <p:nvPr/>
        </p:nvSpPr>
        <p:spPr>
          <a:xfrm>
            <a:off x="457200" y="4078224"/>
            <a:ext cx="420624" cy="420624"/>
          </a:xfrm>
          <a:prstGeom prst="ellipse">
            <a:avLst/>
          </a:prstGeom>
          <a:solidFill>
            <a:srgbClr val="C0283F"/>
          </a:solidFill>
          <a:ln/>
        </p:spPr>
      </p:sp>
      <p:pic>
        <p:nvPicPr>
          <p:cNvPr id="22" name="Image 2" descr="FaUserShield">    </p:cNvPr>
          <p:cNvPicPr>
            <a:picLocks noChangeAspect="1"/>
          </p:cNvPicPr>
          <p:nvPr/>
        </p:nvPicPr>
        <p:blipFill>
          <a:blip r:embed="rId3"/>
          <a:stretch>
            <a:fillRect/>
          </a:stretch>
        </p:blipFill>
        <p:spPr>
          <a:xfrm>
            <a:off x="562356" y="4183380"/>
            <a:ext cx="210312" cy="210312"/>
          </a:xfrm>
          <a:prstGeom prst="rect">
            <a:avLst/>
          </a:prstGeom>
        </p:spPr>
      </p:pic>
      <p:sp>
        <p:nvSpPr>
          <p:cNvPr id="23" name="Text 18"/>
          <p:cNvSpPr txBox="1"/>
          <p:nvPr/>
        </p:nvSpPr>
        <p:spPr>
          <a:xfrm>
            <a:off x="1051560" y="4078224"/>
            <a:ext cx="7635240" cy="420624"/>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Recommendation: </a:t>
            </a:r>
            <a:pPr indent="0" marL="0">
              <a:buNone/>
            </a:pPr>
            <a:r>
              <a:rPr lang="en-US" sz="1400" dirty="0">
                <a:solidFill>
                  <a:schemeClr val="tx1"/>
                </a:solidFill>
                <a:latin typeface="Calibri" pitchFamily="34" charset="0"/>
                <a:ea typeface="Calibri" pitchFamily="34" charset="-122"/>
                <a:cs typeface="Calibri" pitchFamily="34" charset="-120"/>
              </a:rPr>
              <a:t>pilot as a triage aid with human review, not as an automated decision-maker.</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600" b="1" dirty="0">
                <a:solidFill>
                  <a:schemeClr val="tx1"/>
                </a:solidFill>
              </a:rPr>
              <a:t>The challenge: prioritise risk review at scale</a:t>
            </a:r>
            <a:endParaRPr lang="en-US" sz="2600" dirty="0"/>
          </a:p>
        </p:txBody>
      </p:sp>
      <p:sp>
        <p:nvSpPr>
          <p:cNvPr id="3" name="Card"/>
          <p:cNvSpPr/>
          <p:nvPr/>
        </p:nvSpPr>
        <p:spPr>
          <a:xfrm>
            <a:off x="457200" y="1280160"/>
            <a:ext cx="4846320" cy="960120"/>
          </a:xfrm>
          <a:prstGeom prst="roundRect">
            <a:avLst>
              <a:gd name="adj" fmla="val 7619"/>
            </a:avLst>
          </a:prstGeom>
          <a:solidFill>
            <a:schemeClr val="bg2"/>
          </a:solidFill>
          <a:ln/>
          <a:effectLst>
            <a:outerShdw sx="100000" sy="100000" kx="0" ky="0" algn="bl" rotWithShape="0" blurRad="101600" dist="25400" dir="5400000">
              <a:srgbClr val="000000">
                <a:alpha val="12000"/>
              </a:srgbClr>
            </a:outerShdw>
          </a:effectLst>
        </p:spPr>
      </p:sp>
      <p:sp>
        <p:nvSpPr>
          <p:cNvPr id="4" name="Icon circle"/>
          <p:cNvSpPr/>
          <p:nvPr/>
        </p:nvSpPr>
        <p:spPr>
          <a:xfrm>
            <a:off x="640080" y="1536192"/>
            <a:ext cx="457200" cy="457200"/>
          </a:xfrm>
          <a:prstGeom prst="ellipse">
            <a:avLst/>
          </a:prstGeom>
          <a:solidFill>
            <a:srgbClr val="0B7A7D"/>
          </a:solidFill>
          <a:ln/>
        </p:spPr>
      </p:sp>
      <p:pic>
        <p:nvPicPr>
          <p:cNvPr id="5" name="Image 0" descr="FaDatabase">    </p:cNvPr>
          <p:cNvPicPr>
            <a:picLocks noChangeAspect="1"/>
          </p:cNvPicPr>
          <p:nvPr/>
        </p:nvPicPr>
        <p:blipFill>
          <a:blip r:embed="rId1"/>
          <a:stretch>
            <a:fillRect/>
          </a:stretch>
        </p:blipFill>
        <p:spPr>
          <a:xfrm>
            <a:off x="754380" y="1650492"/>
            <a:ext cx="228600" cy="228600"/>
          </a:xfrm>
          <a:prstGeom prst="rect">
            <a:avLst/>
          </a:prstGeom>
        </p:spPr>
      </p:pic>
      <p:sp>
        <p:nvSpPr>
          <p:cNvPr id="6" name="Text 3"/>
          <p:cNvSpPr txBox="1"/>
          <p:nvPr/>
        </p:nvSpPr>
        <p:spPr>
          <a:xfrm>
            <a:off x="1280160" y="1371600"/>
            <a:ext cx="3931920" cy="2743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High volume</a:t>
            </a:r>
            <a:endParaRPr lang="en-US" sz="1600" dirty="0"/>
          </a:p>
        </p:txBody>
      </p:sp>
      <p:sp>
        <p:nvSpPr>
          <p:cNvPr id="7" name="Text 4"/>
          <p:cNvSpPr txBox="1"/>
          <p:nvPr/>
        </p:nvSpPr>
        <p:spPr>
          <a:xfrm>
            <a:off x="1280160" y="1645920"/>
            <a:ext cx="3931920" cy="54864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Thousands of transactions across five channels each quarter; reviewers cannot look at everything.</a:t>
            </a:r>
            <a:endParaRPr lang="en-US" sz="1350" dirty="0"/>
          </a:p>
        </p:txBody>
      </p:sp>
      <p:sp>
        <p:nvSpPr>
          <p:cNvPr id="8" name="Card"/>
          <p:cNvSpPr/>
          <p:nvPr/>
        </p:nvSpPr>
        <p:spPr>
          <a:xfrm>
            <a:off x="457200" y="2377440"/>
            <a:ext cx="4846320" cy="960120"/>
          </a:xfrm>
          <a:prstGeom prst="roundRect">
            <a:avLst>
              <a:gd name="adj" fmla="val 7619"/>
            </a:avLst>
          </a:prstGeom>
          <a:solidFill>
            <a:schemeClr val="bg2"/>
          </a:solidFill>
          <a:ln/>
          <a:effectLst>
            <a:outerShdw sx="100000" sy="100000" kx="0" ky="0" algn="bl" rotWithShape="0" blurRad="101600" dist="25400" dir="5400000">
              <a:srgbClr val="000000">
                <a:alpha val="12000"/>
              </a:srgbClr>
            </a:outerShdw>
          </a:effectLst>
        </p:spPr>
      </p:sp>
      <p:sp>
        <p:nvSpPr>
          <p:cNvPr id="9" name="Icon circle"/>
          <p:cNvSpPr/>
          <p:nvPr/>
        </p:nvSpPr>
        <p:spPr>
          <a:xfrm>
            <a:off x="640080" y="2633472"/>
            <a:ext cx="457200" cy="457200"/>
          </a:xfrm>
          <a:prstGeom prst="ellipse">
            <a:avLst/>
          </a:prstGeom>
          <a:solidFill>
            <a:srgbClr val="0B7A7D"/>
          </a:solidFill>
          <a:ln/>
        </p:spPr>
      </p:sp>
      <p:pic>
        <p:nvPicPr>
          <p:cNvPr id="10" name="Image 1" descr="FaClock">    </p:cNvPr>
          <p:cNvPicPr>
            <a:picLocks noChangeAspect="1"/>
          </p:cNvPicPr>
          <p:nvPr/>
        </p:nvPicPr>
        <p:blipFill>
          <a:blip r:embed="rId2"/>
          <a:stretch>
            <a:fillRect/>
          </a:stretch>
        </p:blipFill>
        <p:spPr>
          <a:xfrm>
            <a:off x="754380" y="2747772"/>
            <a:ext cx="228600" cy="228600"/>
          </a:xfrm>
          <a:prstGeom prst="rect">
            <a:avLst/>
          </a:prstGeom>
        </p:spPr>
      </p:pic>
      <p:sp>
        <p:nvSpPr>
          <p:cNvPr id="11" name="Text 7"/>
          <p:cNvSpPr txBox="1"/>
          <p:nvPr/>
        </p:nvSpPr>
        <p:spPr>
          <a:xfrm>
            <a:off x="1280160" y="2468880"/>
            <a:ext cx="3931920" cy="2743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Limited review capacity</a:t>
            </a:r>
            <a:endParaRPr lang="en-US" sz="1600" dirty="0"/>
          </a:p>
        </p:txBody>
      </p:sp>
      <p:sp>
        <p:nvSpPr>
          <p:cNvPr id="12" name="Text 8"/>
          <p:cNvSpPr txBox="1"/>
          <p:nvPr/>
        </p:nvSpPr>
        <p:spPr>
          <a:xfrm>
            <a:off x="1280160" y="2743200"/>
            <a:ext cx="3931920" cy="54864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Planning assumption: the risk team can review about 30% of volume. This is an assumption to confirm.</a:t>
            </a:r>
            <a:endParaRPr lang="en-US" sz="1350" dirty="0"/>
          </a:p>
        </p:txBody>
      </p:sp>
      <p:sp>
        <p:nvSpPr>
          <p:cNvPr id="13" name="Card"/>
          <p:cNvSpPr/>
          <p:nvPr/>
        </p:nvSpPr>
        <p:spPr>
          <a:xfrm>
            <a:off x="457200" y="3474720"/>
            <a:ext cx="4846320" cy="960120"/>
          </a:xfrm>
          <a:prstGeom prst="roundRect">
            <a:avLst>
              <a:gd name="adj" fmla="val 7619"/>
            </a:avLst>
          </a:prstGeom>
          <a:solidFill>
            <a:schemeClr val="bg2"/>
          </a:solidFill>
          <a:ln/>
          <a:effectLst>
            <a:outerShdw sx="100000" sy="100000" kx="0" ky="0" algn="bl" rotWithShape="0" blurRad="101600" dist="25400" dir="5400000">
              <a:srgbClr val="000000">
                <a:alpha val="12000"/>
              </a:srgbClr>
            </a:outerShdw>
          </a:effectLst>
        </p:spPr>
      </p:sp>
      <p:sp>
        <p:nvSpPr>
          <p:cNvPr id="14" name="Icon circle"/>
          <p:cNvSpPr/>
          <p:nvPr/>
        </p:nvSpPr>
        <p:spPr>
          <a:xfrm>
            <a:off x="640080" y="3730752"/>
            <a:ext cx="457200" cy="457200"/>
          </a:xfrm>
          <a:prstGeom prst="ellipse">
            <a:avLst/>
          </a:prstGeom>
          <a:solidFill>
            <a:srgbClr val="0B7A7D"/>
          </a:solidFill>
          <a:ln/>
        </p:spPr>
      </p:sp>
      <p:pic>
        <p:nvPicPr>
          <p:cNvPr id="15" name="Image 2" descr="FaBalanceScale">    </p:cNvPr>
          <p:cNvPicPr>
            <a:picLocks noChangeAspect="1"/>
          </p:cNvPicPr>
          <p:nvPr/>
        </p:nvPicPr>
        <p:blipFill>
          <a:blip r:embed="rId3"/>
          <a:stretch>
            <a:fillRect/>
          </a:stretch>
        </p:blipFill>
        <p:spPr>
          <a:xfrm>
            <a:off x="754380" y="3845052"/>
            <a:ext cx="228600" cy="228600"/>
          </a:xfrm>
          <a:prstGeom prst="rect">
            <a:avLst/>
          </a:prstGeom>
        </p:spPr>
      </p:pic>
      <p:sp>
        <p:nvSpPr>
          <p:cNvPr id="16" name="Text 11"/>
          <p:cNvSpPr txBox="1"/>
          <p:nvPr/>
        </p:nvSpPr>
        <p:spPr>
          <a:xfrm>
            <a:off x="1280160" y="3566160"/>
            <a:ext cx="3931920" cy="2743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Consistency</a:t>
            </a:r>
            <a:endParaRPr lang="en-US" sz="1600" dirty="0"/>
          </a:p>
        </p:txBody>
      </p:sp>
      <p:sp>
        <p:nvSpPr>
          <p:cNvPr id="17" name="Text 12"/>
          <p:cNvSpPr txBox="1"/>
          <p:nvPr/>
        </p:nvSpPr>
        <p:spPr>
          <a:xfrm>
            <a:off x="1280160" y="3840480"/>
            <a:ext cx="3931920" cy="54864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A scored, auditable queue replaces ad-hoc judgement and shows why each item was flagged.</a:t>
            </a:r>
            <a:endParaRPr lang="en-US" sz="1350" dirty="0"/>
          </a:p>
        </p:txBody>
      </p:sp>
      <p:sp>
        <p:nvSpPr>
          <p:cNvPr id="18" name="Objective card"/>
          <p:cNvSpPr/>
          <p:nvPr/>
        </p:nvSpPr>
        <p:spPr>
          <a:xfrm>
            <a:off x="5577840" y="1280160"/>
            <a:ext cx="3108960" cy="3154680"/>
          </a:xfrm>
          <a:prstGeom prst="roundRect">
            <a:avLst>
              <a:gd name="adj" fmla="val 2353"/>
            </a:avLst>
          </a:prstGeom>
          <a:solidFill>
            <a:schemeClr val="tx1"/>
          </a:solidFill>
          <a:ln/>
        </p:spPr>
      </p:sp>
      <p:sp>
        <p:nvSpPr>
          <p:cNvPr id="19" name="Text 14"/>
          <p:cNvSpPr txBox="1"/>
          <p:nvPr/>
        </p:nvSpPr>
        <p:spPr>
          <a:xfrm>
            <a:off x="5806440" y="1463040"/>
            <a:ext cx="2743200" cy="27432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Our objective</a:t>
            </a:r>
            <a:endParaRPr lang="en-US" sz="1400" dirty="0"/>
          </a:p>
        </p:txBody>
      </p:sp>
      <p:sp>
        <p:nvSpPr>
          <p:cNvPr id="20" name="Text 15"/>
          <p:cNvSpPr txBox="1"/>
          <p:nvPr/>
        </p:nvSpPr>
        <p:spPr>
          <a:xfrm>
            <a:off x="5806440" y="1828800"/>
            <a:ext cx="2651760" cy="1645920"/>
          </a:xfrm>
          <a:prstGeom prst="rect">
            <a:avLst/>
          </a:prstGeom>
          <a:noFill/>
          <a:ln/>
        </p:spPr>
        <p:txBody>
          <a:bodyPr wrap="square" lIns="0" tIns="0" rIns="0" bIns="0" rtlCol="0" anchor="t"/>
          <a:lstStyle/>
          <a:p>
            <a:pPr indent="0" marL="0">
              <a:buNone/>
            </a:pPr>
            <a:r>
              <a:rPr lang="en-US" sz="1600" dirty="0">
                <a:solidFill>
                  <a:schemeClr val="bg1"/>
                </a:solidFill>
                <a:latin typeface="Cambria" pitchFamily="34" charset="0"/>
                <a:ea typeface="Cambria" pitchFamily="34" charset="-122"/>
                <a:cs typeface="Cambria" pitchFamily="34" charset="-120"/>
              </a:rPr>
              <a:t>Turn each transaction into a risk score and a review flag, through a workflow that is validated, tested and repeatable.</a:t>
            </a:r>
            <a:endParaRPr lang="en-US" sz="1600" dirty="0"/>
          </a:p>
        </p:txBody>
      </p:sp>
      <p:sp>
        <p:nvSpPr>
          <p:cNvPr id="21" name="Text 16"/>
          <p:cNvSpPr txBox="1"/>
          <p:nvPr/>
        </p:nvSpPr>
        <p:spPr>
          <a:xfrm>
            <a:off x="5806440" y="3657600"/>
            <a:ext cx="2651760" cy="548640"/>
          </a:xfrm>
          <a:prstGeom prst="rect">
            <a:avLst/>
          </a:prstGeom>
          <a:noFill/>
          <a:ln/>
        </p:spPr>
        <p:txBody>
          <a:bodyPr wrap="square" lIns="0" tIns="0" rIns="0" bIns="0" rtlCol="0" anchor="t"/>
          <a:lstStyle/>
          <a:p>
            <a:pPr indent="0" marL="0">
              <a:buNone/>
            </a:pPr>
            <a:r>
              <a:rPr lang="en-US" sz="1350" dirty="0">
                <a:solidFill>
                  <a:schemeClr val="accent6"/>
                </a:solidFill>
                <a:latin typeface="Calibri" pitchFamily="34" charset="0"/>
                <a:ea typeface="Calibri" pitchFamily="34" charset="-122"/>
                <a:cs typeface="Calibri" pitchFamily="34" charset="-120"/>
              </a:rPr>
              <a:t>Target: Risk_Review_Flag (about 1 in 5 transactions)</a:t>
            </a:r>
            <a:endParaRPr lang="en-US" sz="13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600" b="1" dirty="0">
                <a:solidFill>
                  <a:schemeClr val="tx1"/>
                </a:solidFill>
              </a:rPr>
              <a:t>One workflow from input to output</a:t>
            </a:r>
            <a:endParaRPr lang="en-US" sz="2600" dirty="0"/>
          </a:p>
        </p:txBody>
      </p:sp>
      <p:sp>
        <p:nvSpPr>
          <p:cNvPr id="3" name="Stage Input"/>
          <p:cNvSpPr/>
          <p:nvPr/>
        </p:nvSpPr>
        <p:spPr>
          <a:xfrm>
            <a:off x="457200" y="1325880"/>
            <a:ext cx="1234440" cy="731520"/>
          </a:xfrm>
          <a:prstGeom prst="chevron">
            <a:avLst/>
          </a:prstGeom>
          <a:solidFill>
            <a:srgbClr val="0B7A7D"/>
          </a:solidFill>
          <a:ln/>
        </p:spPr>
      </p:sp>
      <p:sp>
        <p:nvSpPr>
          <p:cNvPr id="4" name="Text 2"/>
          <p:cNvSpPr txBox="1"/>
          <p:nvPr/>
        </p:nvSpPr>
        <p:spPr>
          <a:xfrm>
            <a:off x="749808" y="1325880"/>
            <a:ext cx="749808"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Input</a:t>
            </a:r>
            <a:endParaRPr lang="en-US" sz="1350" dirty="0"/>
          </a:p>
        </p:txBody>
      </p:sp>
      <p:sp>
        <p:nvSpPr>
          <p:cNvPr id="5" name="Text 3"/>
          <p:cNvSpPr txBox="1"/>
          <p:nvPr/>
        </p:nvSpPr>
        <p:spPr>
          <a:xfrm>
            <a:off x="502920" y="2194560"/>
            <a:ext cx="1097280" cy="91440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CSV, Excel, JSON or API request</a:t>
            </a:r>
            <a:endParaRPr lang="en-US" sz="1250" dirty="0"/>
          </a:p>
        </p:txBody>
      </p:sp>
      <p:sp>
        <p:nvSpPr>
          <p:cNvPr id="6" name="Stage Validate"/>
          <p:cNvSpPr/>
          <p:nvPr/>
        </p:nvSpPr>
        <p:spPr>
          <a:xfrm>
            <a:off x="1600200" y="1325880"/>
            <a:ext cx="1234440" cy="731520"/>
          </a:xfrm>
          <a:prstGeom prst="chevron">
            <a:avLst/>
          </a:prstGeom>
          <a:solidFill>
            <a:srgbClr val="C0283F"/>
          </a:solidFill>
          <a:ln/>
        </p:spPr>
      </p:sp>
      <p:sp>
        <p:nvSpPr>
          <p:cNvPr id="7" name="Text 5"/>
          <p:cNvSpPr txBox="1"/>
          <p:nvPr/>
        </p:nvSpPr>
        <p:spPr>
          <a:xfrm>
            <a:off x="1892808" y="1325880"/>
            <a:ext cx="749808"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Validate</a:t>
            </a:r>
            <a:endParaRPr lang="en-US" sz="1350" dirty="0"/>
          </a:p>
        </p:txBody>
      </p:sp>
      <p:sp>
        <p:nvSpPr>
          <p:cNvPr id="8" name="Text 6"/>
          <p:cNvSpPr txBox="1"/>
          <p:nvPr/>
        </p:nvSpPr>
        <p:spPr>
          <a:xfrm>
            <a:off x="1645920" y="2194560"/>
            <a:ext cx="1097280" cy="91440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Schema, types, categories; bad rows rejected</a:t>
            </a:r>
            <a:endParaRPr lang="en-US" sz="1250" dirty="0"/>
          </a:p>
        </p:txBody>
      </p:sp>
      <p:sp>
        <p:nvSpPr>
          <p:cNvPr id="9" name="Stage Prepare"/>
          <p:cNvSpPr/>
          <p:nvPr/>
        </p:nvSpPr>
        <p:spPr>
          <a:xfrm>
            <a:off x="2743200" y="1325880"/>
            <a:ext cx="1234440" cy="731520"/>
          </a:xfrm>
          <a:prstGeom prst="chevron">
            <a:avLst/>
          </a:prstGeom>
          <a:solidFill>
            <a:srgbClr val="0B7A7D"/>
          </a:solidFill>
          <a:ln/>
        </p:spPr>
      </p:sp>
      <p:sp>
        <p:nvSpPr>
          <p:cNvPr id="10" name="Text 8"/>
          <p:cNvSpPr txBox="1"/>
          <p:nvPr/>
        </p:nvSpPr>
        <p:spPr>
          <a:xfrm>
            <a:off x="3035808" y="1325880"/>
            <a:ext cx="749808"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Prepare</a:t>
            </a:r>
            <a:endParaRPr lang="en-US" sz="1350" dirty="0"/>
          </a:p>
        </p:txBody>
      </p:sp>
      <p:sp>
        <p:nvSpPr>
          <p:cNvPr id="11" name="Text 9"/>
          <p:cNvSpPr txBox="1"/>
          <p:nvPr/>
        </p:nvSpPr>
        <p:spPr>
          <a:xfrm>
            <a:off x="2788920" y="2194560"/>
            <a:ext cx="1097280" cy="91440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Impute, scale, one-hot encode</a:t>
            </a:r>
            <a:endParaRPr lang="en-US" sz="1250" dirty="0"/>
          </a:p>
        </p:txBody>
      </p:sp>
      <p:sp>
        <p:nvSpPr>
          <p:cNvPr id="12" name="Stage Features"/>
          <p:cNvSpPr/>
          <p:nvPr/>
        </p:nvSpPr>
        <p:spPr>
          <a:xfrm>
            <a:off x="3886200" y="1325880"/>
            <a:ext cx="1234440" cy="731520"/>
          </a:xfrm>
          <a:prstGeom prst="chevron">
            <a:avLst/>
          </a:prstGeom>
          <a:solidFill>
            <a:srgbClr val="0B7A7D"/>
          </a:solidFill>
          <a:ln/>
        </p:spPr>
      </p:sp>
      <p:sp>
        <p:nvSpPr>
          <p:cNvPr id="13" name="Text 11"/>
          <p:cNvSpPr txBox="1"/>
          <p:nvPr/>
        </p:nvSpPr>
        <p:spPr>
          <a:xfrm>
            <a:off x="4178808" y="1325880"/>
            <a:ext cx="749808"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Features</a:t>
            </a:r>
            <a:endParaRPr lang="en-US" sz="1350" dirty="0"/>
          </a:p>
        </p:txBody>
      </p:sp>
      <p:sp>
        <p:nvSpPr>
          <p:cNvPr id="14" name="Text 12"/>
          <p:cNvSpPr txBox="1"/>
          <p:nvPr/>
        </p:nvSpPr>
        <p:spPr>
          <a:xfrm>
            <a:off x="3931920" y="2194560"/>
            <a:ext cx="1097280" cy="91440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Hour, night flag, log amount, international</a:t>
            </a:r>
            <a:endParaRPr lang="en-US" sz="1250" dirty="0"/>
          </a:p>
        </p:txBody>
      </p:sp>
      <p:sp>
        <p:nvSpPr>
          <p:cNvPr id="15" name="Stage Model"/>
          <p:cNvSpPr/>
          <p:nvPr/>
        </p:nvSpPr>
        <p:spPr>
          <a:xfrm>
            <a:off x="5029200" y="1325880"/>
            <a:ext cx="1234440" cy="731520"/>
          </a:xfrm>
          <a:prstGeom prst="chevron">
            <a:avLst/>
          </a:prstGeom>
          <a:solidFill>
            <a:srgbClr val="F2A541"/>
          </a:solidFill>
          <a:ln/>
        </p:spPr>
      </p:sp>
      <p:sp>
        <p:nvSpPr>
          <p:cNvPr id="16" name="Text 14"/>
          <p:cNvSpPr txBox="1"/>
          <p:nvPr/>
        </p:nvSpPr>
        <p:spPr>
          <a:xfrm>
            <a:off x="5321808" y="1325880"/>
            <a:ext cx="749808" cy="731520"/>
          </a:xfrm>
          <a:prstGeom prst="rect">
            <a:avLst/>
          </a:prstGeom>
          <a:noFill/>
          <a:ln/>
        </p:spPr>
        <p:txBody>
          <a:bodyPr wrap="square" lIns="0" tIns="0" rIns="0" bIns="0" rtlCol="0" anchor="ctr"/>
          <a:lstStyle/>
          <a:p>
            <a:pPr algn="ctr" indent="0" marL="0">
              <a:buNone/>
            </a:pPr>
            <a:r>
              <a:rPr lang="en-US" sz="1350" b="1" dirty="0">
                <a:solidFill>
                  <a:srgbClr val="0B1F3A"/>
                </a:solidFill>
                <a:latin typeface="Calibri" pitchFamily="34" charset="0"/>
                <a:ea typeface="Calibri" pitchFamily="34" charset="-122"/>
                <a:cs typeface="Calibri" pitchFamily="34" charset="-120"/>
              </a:rPr>
              <a:t>Model</a:t>
            </a:r>
            <a:endParaRPr lang="en-US" sz="1350" dirty="0"/>
          </a:p>
        </p:txBody>
      </p:sp>
      <p:sp>
        <p:nvSpPr>
          <p:cNvPr id="17" name="Text 15"/>
          <p:cNvSpPr txBox="1"/>
          <p:nvPr/>
        </p:nvSpPr>
        <p:spPr>
          <a:xfrm>
            <a:off x="5074920" y="2194560"/>
            <a:ext cx="1097280" cy="91440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Gradient boosting, Jan-Feb data</a:t>
            </a:r>
            <a:endParaRPr lang="en-US" sz="1250" dirty="0"/>
          </a:p>
        </p:txBody>
      </p:sp>
      <p:sp>
        <p:nvSpPr>
          <p:cNvPr id="18" name="Stage Predict"/>
          <p:cNvSpPr/>
          <p:nvPr/>
        </p:nvSpPr>
        <p:spPr>
          <a:xfrm>
            <a:off x="6172200" y="1325880"/>
            <a:ext cx="1234440" cy="731520"/>
          </a:xfrm>
          <a:prstGeom prst="chevron">
            <a:avLst/>
          </a:prstGeom>
          <a:solidFill>
            <a:srgbClr val="0B7A7D"/>
          </a:solidFill>
          <a:ln/>
        </p:spPr>
      </p:sp>
      <p:sp>
        <p:nvSpPr>
          <p:cNvPr id="19" name="Text 17"/>
          <p:cNvSpPr txBox="1"/>
          <p:nvPr/>
        </p:nvSpPr>
        <p:spPr>
          <a:xfrm>
            <a:off x="6464808" y="1325880"/>
            <a:ext cx="749808"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Predict</a:t>
            </a:r>
            <a:endParaRPr lang="en-US" sz="1350" dirty="0"/>
          </a:p>
        </p:txBody>
      </p:sp>
      <p:sp>
        <p:nvSpPr>
          <p:cNvPr id="20" name="Text 18"/>
          <p:cNvSpPr txBox="1"/>
          <p:nvPr/>
        </p:nvSpPr>
        <p:spPr>
          <a:xfrm>
            <a:off x="6217920" y="2194560"/>
            <a:ext cx="1097280" cy="91440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Risk score, flag and band</a:t>
            </a:r>
            <a:endParaRPr lang="en-US" sz="1250" dirty="0"/>
          </a:p>
        </p:txBody>
      </p:sp>
      <p:sp>
        <p:nvSpPr>
          <p:cNvPr id="21" name="Stage Output"/>
          <p:cNvSpPr/>
          <p:nvPr/>
        </p:nvSpPr>
        <p:spPr>
          <a:xfrm>
            <a:off x="7315200" y="1325880"/>
            <a:ext cx="1234440" cy="731520"/>
          </a:xfrm>
          <a:prstGeom prst="chevron">
            <a:avLst/>
          </a:prstGeom>
          <a:solidFill>
            <a:srgbClr val="0B7A7D"/>
          </a:solidFill>
          <a:ln/>
        </p:spPr>
      </p:sp>
      <p:sp>
        <p:nvSpPr>
          <p:cNvPr id="22" name="Text 20"/>
          <p:cNvSpPr txBox="1"/>
          <p:nvPr/>
        </p:nvSpPr>
        <p:spPr>
          <a:xfrm>
            <a:off x="7607808" y="1325880"/>
            <a:ext cx="749808"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Output</a:t>
            </a:r>
            <a:endParaRPr lang="en-US" sz="1350" dirty="0"/>
          </a:p>
        </p:txBody>
      </p:sp>
      <p:sp>
        <p:nvSpPr>
          <p:cNvPr id="23" name="Text 21"/>
          <p:cNvSpPr txBox="1"/>
          <p:nvPr/>
        </p:nvSpPr>
        <p:spPr>
          <a:xfrm>
            <a:off x="7360920" y="2194560"/>
            <a:ext cx="1097280" cy="91440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One row per input, with reasons</a:t>
            </a:r>
            <a:endParaRPr lang="en-US" sz="1250" dirty="0"/>
          </a:p>
        </p:txBody>
      </p:sp>
      <p:sp>
        <p:nvSpPr>
          <p:cNvPr id="24" name="Card"/>
          <p:cNvSpPr/>
          <p:nvPr/>
        </p:nvSpPr>
        <p:spPr>
          <a:xfrm>
            <a:off x="457200" y="3291840"/>
            <a:ext cx="2560320" cy="1188720"/>
          </a:xfrm>
          <a:prstGeom prst="roundRect">
            <a:avLst>
              <a:gd name="adj" fmla="val 6154"/>
            </a:avLst>
          </a:prstGeom>
          <a:solidFill>
            <a:schemeClr val="bg2"/>
          </a:solidFill>
          <a:ln/>
          <a:effectLst>
            <a:outerShdw sx="100000" sy="100000" kx="0" ky="0" algn="bl" rotWithShape="0" blurRad="101600" dist="25400" dir="5400000">
              <a:srgbClr val="000000">
                <a:alpha val="12000"/>
              </a:srgbClr>
            </a:outerShdw>
          </a:effectLst>
        </p:spPr>
      </p:sp>
      <p:sp>
        <p:nvSpPr>
          <p:cNvPr id="25" name="Icon circle"/>
          <p:cNvSpPr/>
          <p:nvPr/>
        </p:nvSpPr>
        <p:spPr>
          <a:xfrm>
            <a:off x="640080" y="3566160"/>
            <a:ext cx="502920" cy="502920"/>
          </a:xfrm>
          <a:prstGeom prst="ellipse">
            <a:avLst/>
          </a:prstGeom>
          <a:solidFill>
            <a:srgbClr val="12355B"/>
          </a:solidFill>
          <a:ln/>
        </p:spPr>
      </p:sp>
      <p:pic>
        <p:nvPicPr>
          <p:cNvPr id="26" name="Image 0" descr="FaTerminal">    </p:cNvPr>
          <p:cNvPicPr>
            <a:picLocks noChangeAspect="1"/>
          </p:cNvPicPr>
          <p:nvPr/>
        </p:nvPicPr>
        <p:blipFill>
          <a:blip r:embed="rId1"/>
          <a:stretch>
            <a:fillRect/>
          </a:stretch>
        </p:blipFill>
        <p:spPr>
          <a:xfrm>
            <a:off x="765810" y="3691890"/>
            <a:ext cx="251460" cy="251460"/>
          </a:xfrm>
          <a:prstGeom prst="rect">
            <a:avLst/>
          </a:prstGeom>
        </p:spPr>
      </p:pic>
      <p:sp>
        <p:nvSpPr>
          <p:cNvPr id="27" name="Text 24"/>
          <p:cNvSpPr txBox="1"/>
          <p:nvPr/>
        </p:nvSpPr>
        <p:spPr>
          <a:xfrm>
            <a:off x="1280160" y="3520440"/>
            <a:ext cx="1645920" cy="3200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Command line</a:t>
            </a:r>
            <a:endParaRPr lang="en-US" sz="1400" dirty="0"/>
          </a:p>
        </p:txBody>
      </p:sp>
      <p:sp>
        <p:nvSpPr>
          <p:cNvPr id="28" name="Text 25"/>
          <p:cNvSpPr txBox="1"/>
          <p:nvPr/>
        </p:nvSpPr>
        <p:spPr>
          <a:xfrm>
            <a:off x="1280160" y="3840480"/>
            <a:ext cx="1645920" cy="45720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Score files in batch</a:t>
            </a:r>
            <a:endParaRPr lang="en-US" sz="1350" dirty="0"/>
          </a:p>
        </p:txBody>
      </p:sp>
      <p:sp>
        <p:nvSpPr>
          <p:cNvPr id="29" name="Card"/>
          <p:cNvSpPr/>
          <p:nvPr/>
        </p:nvSpPr>
        <p:spPr>
          <a:xfrm>
            <a:off x="3291840" y="3291840"/>
            <a:ext cx="2560320" cy="1188720"/>
          </a:xfrm>
          <a:prstGeom prst="roundRect">
            <a:avLst>
              <a:gd name="adj" fmla="val 6154"/>
            </a:avLst>
          </a:prstGeom>
          <a:solidFill>
            <a:schemeClr val="bg2"/>
          </a:solidFill>
          <a:ln/>
          <a:effectLst>
            <a:outerShdw sx="100000" sy="100000" kx="0" ky="0" algn="bl" rotWithShape="0" blurRad="101600" dist="25400" dir="5400000">
              <a:srgbClr val="000000">
                <a:alpha val="12000"/>
              </a:srgbClr>
            </a:outerShdw>
          </a:effectLst>
        </p:spPr>
      </p:sp>
      <p:sp>
        <p:nvSpPr>
          <p:cNvPr id="30" name="Icon circle"/>
          <p:cNvSpPr/>
          <p:nvPr/>
        </p:nvSpPr>
        <p:spPr>
          <a:xfrm>
            <a:off x="3474720" y="3566160"/>
            <a:ext cx="502920" cy="502920"/>
          </a:xfrm>
          <a:prstGeom prst="ellipse">
            <a:avLst/>
          </a:prstGeom>
          <a:solidFill>
            <a:srgbClr val="12355B"/>
          </a:solidFill>
          <a:ln/>
        </p:spPr>
      </p:sp>
      <p:pic>
        <p:nvPicPr>
          <p:cNvPr id="31" name="Image 1" descr="FaServer">    </p:cNvPr>
          <p:cNvPicPr>
            <a:picLocks noChangeAspect="1"/>
          </p:cNvPicPr>
          <p:nvPr/>
        </p:nvPicPr>
        <p:blipFill>
          <a:blip r:embed="rId2"/>
          <a:stretch>
            <a:fillRect/>
          </a:stretch>
        </p:blipFill>
        <p:spPr>
          <a:xfrm>
            <a:off x="3600450" y="3691890"/>
            <a:ext cx="251460" cy="251460"/>
          </a:xfrm>
          <a:prstGeom prst="rect">
            <a:avLst/>
          </a:prstGeom>
        </p:spPr>
      </p:pic>
      <p:sp>
        <p:nvSpPr>
          <p:cNvPr id="32" name="Text 28"/>
          <p:cNvSpPr txBox="1"/>
          <p:nvPr/>
        </p:nvSpPr>
        <p:spPr>
          <a:xfrm>
            <a:off x="4114800" y="3520440"/>
            <a:ext cx="1645920" cy="3200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REST API</a:t>
            </a:r>
            <a:endParaRPr lang="en-US" sz="1400" dirty="0"/>
          </a:p>
        </p:txBody>
      </p:sp>
      <p:sp>
        <p:nvSpPr>
          <p:cNvPr id="33" name="Text 29"/>
          <p:cNvSpPr txBox="1"/>
          <p:nvPr/>
        </p:nvSpPr>
        <p:spPr>
          <a:xfrm>
            <a:off x="4114800" y="3840480"/>
            <a:ext cx="1645920" cy="45720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Single and batch scoring</a:t>
            </a:r>
            <a:endParaRPr lang="en-US" sz="1350" dirty="0"/>
          </a:p>
        </p:txBody>
      </p:sp>
      <p:sp>
        <p:nvSpPr>
          <p:cNvPr id="34" name="Card"/>
          <p:cNvSpPr/>
          <p:nvPr/>
        </p:nvSpPr>
        <p:spPr>
          <a:xfrm>
            <a:off x="6126480" y="3291840"/>
            <a:ext cx="2560320" cy="1188720"/>
          </a:xfrm>
          <a:prstGeom prst="roundRect">
            <a:avLst>
              <a:gd name="adj" fmla="val 6154"/>
            </a:avLst>
          </a:prstGeom>
          <a:solidFill>
            <a:schemeClr val="bg2"/>
          </a:solidFill>
          <a:ln/>
          <a:effectLst>
            <a:outerShdw sx="100000" sy="100000" kx="0" ky="0" algn="bl" rotWithShape="0" blurRad="101600" dist="25400" dir="5400000">
              <a:srgbClr val="000000">
                <a:alpha val="12000"/>
              </a:srgbClr>
            </a:outerShdw>
          </a:effectLst>
        </p:spPr>
      </p:sp>
      <p:sp>
        <p:nvSpPr>
          <p:cNvPr id="35" name="Icon circle"/>
          <p:cNvSpPr/>
          <p:nvPr/>
        </p:nvSpPr>
        <p:spPr>
          <a:xfrm>
            <a:off x="6309360" y="3566160"/>
            <a:ext cx="502920" cy="502920"/>
          </a:xfrm>
          <a:prstGeom prst="ellipse">
            <a:avLst/>
          </a:prstGeom>
          <a:solidFill>
            <a:srgbClr val="12355B"/>
          </a:solidFill>
          <a:ln/>
        </p:spPr>
      </p:sp>
      <p:pic>
        <p:nvPicPr>
          <p:cNvPr id="36" name="Image 2" descr="FaBook">    </p:cNvPr>
          <p:cNvPicPr>
            <a:picLocks noChangeAspect="1"/>
          </p:cNvPicPr>
          <p:nvPr/>
        </p:nvPicPr>
        <p:blipFill>
          <a:blip r:embed="rId3"/>
          <a:stretch>
            <a:fillRect/>
          </a:stretch>
        </p:blipFill>
        <p:spPr>
          <a:xfrm>
            <a:off x="6435090" y="3691890"/>
            <a:ext cx="251460" cy="251460"/>
          </a:xfrm>
          <a:prstGeom prst="rect">
            <a:avLst/>
          </a:prstGeom>
        </p:spPr>
      </p:pic>
      <p:sp>
        <p:nvSpPr>
          <p:cNvPr id="37" name="Text 32"/>
          <p:cNvSpPr txBox="1"/>
          <p:nvPr/>
        </p:nvSpPr>
        <p:spPr>
          <a:xfrm>
            <a:off x="6949440" y="3520440"/>
            <a:ext cx="1645920" cy="3200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Databricks notebook</a:t>
            </a:r>
            <a:endParaRPr lang="en-US" sz="1400" dirty="0"/>
          </a:p>
        </p:txBody>
      </p:sp>
      <p:sp>
        <p:nvSpPr>
          <p:cNvPr id="38" name="Text 33"/>
          <p:cNvSpPr txBox="1"/>
          <p:nvPr/>
        </p:nvSpPr>
        <p:spPr>
          <a:xfrm>
            <a:off x="6949440" y="3840480"/>
            <a:ext cx="1645920" cy="45720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Live what-if testing</a:t>
            </a:r>
            <a:endParaRPr lang="en-US" sz="13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600" b="1" dirty="0">
                <a:solidFill>
                  <a:schemeClr val="tx1"/>
                </a:solidFill>
              </a:rPr>
              <a:t>Data foundation: clean, complete and joined</a:t>
            </a:r>
            <a:endParaRPr lang="en-US" sz="2600" dirty="0"/>
          </a:p>
        </p:txBody>
      </p:sp>
      <p:sp>
        <p:nvSpPr>
          <p:cNvPr id="3" name="Card"/>
          <p:cNvSpPr/>
          <p:nvPr/>
        </p:nvSpPr>
        <p:spPr>
          <a:xfrm>
            <a:off x="457200" y="1280160"/>
            <a:ext cx="3931920" cy="3200400"/>
          </a:xfrm>
          <a:prstGeom prst="roundRect">
            <a:avLst>
              <a:gd name="adj" fmla="val 2286"/>
            </a:avLst>
          </a:prstGeom>
          <a:solidFill>
            <a:schemeClr val="bg2"/>
          </a:solidFill>
          <a:ln/>
          <a:effectLst>
            <a:outerShdw sx="100000" sy="100000" kx="0" ky="0" algn="bl" rotWithShape="0" blurRad="101600" dist="25400" dir="5400000">
              <a:srgbClr val="000000">
                <a:alpha val="12000"/>
              </a:srgbClr>
            </a:outerShdw>
          </a:effectLst>
        </p:spPr>
      </p:sp>
      <p:sp>
        <p:nvSpPr>
          <p:cNvPr id="4" name="Text 2"/>
          <p:cNvSpPr txBox="1"/>
          <p:nvPr/>
        </p:nvSpPr>
        <p:spPr>
          <a:xfrm>
            <a:off x="685800" y="1417320"/>
            <a:ext cx="3474720" cy="2743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Integrity checks</a:t>
            </a:r>
            <a:endParaRPr lang="en-US" sz="1600" dirty="0"/>
          </a:p>
        </p:txBody>
      </p:sp>
      <p:pic>
        <p:nvPicPr>
          <p:cNvPr id="5" name="Image 0" descr="check">    </p:cNvPr>
          <p:cNvPicPr>
            <a:picLocks noChangeAspect="1"/>
          </p:cNvPicPr>
          <p:nvPr/>
        </p:nvPicPr>
        <p:blipFill>
          <a:blip r:embed="rId1"/>
          <a:stretch>
            <a:fillRect/>
          </a:stretch>
        </p:blipFill>
        <p:spPr>
          <a:xfrm>
            <a:off x="685800" y="1874520"/>
            <a:ext cx="237744" cy="237744"/>
          </a:xfrm>
          <a:prstGeom prst="rect">
            <a:avLst/>
          </a:prstGeom>
        </p:spPr>
      </p:pic>
      <p:sp>
        <p:nvSpPr>
          <p:cNvPr id="6" name="Text 3"/>
          <p:cNvSpPr txBox="1"/>
          <p:nvPr/>
        </p:nvSpPr>
        <p:spPr>
          <a:xfrm>
            <a:off x="1051560" y="1828800"/>
            <a:ext cx="3200400" cy="32918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12,000 transactions, 1,500 customers</a:t>
            </a:r>
            <a:endParaRPr lang="en-US" sz="1400" dirty="0"/>
          </a:p>
        </p:txBody>
      </p:sp>
      <p:pic>
        <p:nvPicPr>
          <p:cNvPr id="7" name="Image 1" descr="check">    </p:cNvPr>
          <p:cNvPicPr>
            <a:picLocks noChangeAspect="1"/>
          </p:cNvPicPr>
          <p:nvPr/>
        </p:nvPicPr>
        <p:blipFill>
          <a:blip r:embed="rId2"/>
          <a:stretch>
            <a:fillRect/>
          </a:stretch>
        </p:blipFill>
        <p:spPr>
          <a:xfrm>
            <a:off x="685800" y="2304288"/>
            <a:ext cx="237744" cy="237744"/>
          </a:xfrm>
          <a:prstGeom prst="rect">
            <a:avLst/>
          </a:prstGeom>
        </p:spPr>
      </p:pic>
      <p:sp>
        <p:nvSpPr>
          <p:cNvPr id="8" name="Text 4"/>
          <p:cNvSpPr txBox="1"/>
          <p:nvPr/>
        </p:nvSpPr>
        <p:spPr>
          <a:xfrm>
            <a:off x="1051560" y="2258568"/>
            <a:ext cx="3200400" cy="32918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0 duplicate transaction IDs</a:t>
            </a:r>
            <a:endParaRPr lang="en-US" sz="1400" dirty="0"/>
          </a:p>
        </p:txBody>
      </p:sp>
      <p:pic>
        <p:nvPicPr>
          <p:cNvPr id="9" name="Image 2" descr="check">    </p:cNvPr>
          <p:cNvPicPr>
            <a:picLocks noChangeAspect="1"/>
          </p:cNvPicPr>
          <p:nvPr/>
        </p:nvPicPr>
        <p:blipFill>
          <a:blip r:embed="rId3"/>
          <a:stretch>
            <a:fillRect/>
          </a:stretch>
        </p:blipFill>
        <p:spPr>
          <a:xfrm>
            <a:off x="685800" y="2734056"/>
            <a:ext cx="237744" cy="237744"/>
          </a:xfrm>
          <a:prstGeom prst="rect">
            <a:avLst/>
          </a:prstGeom>
        </p:spPr>
      </p:pic>
      <p:sp>
        <p:nvSpPr>
          <p:cNvPr id="10" name="Text 5"/>
          <p:cNvSpPr txBox="1"/>
          <p:nvPr/>
        </p:nvSpPr>
        <p:spPr>
          <a:xfrm>
            <a:off x="1051560" y="2688336"/>
            <a:ext cx="3200400" cy="32918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0 orphan customer IDs</a:t>
            </a:r>
            <a:endParaRPr lang="en-US" sz="1400" dirty="0"/>
          </a:p>
        </p:txBody>
      </p:sp>
      <p:pic>
        <p:nvPicPr>
          <p:cNvPr id="11" name="Image 3" descr="check">    </p:cNvPr>
          <p:cNvPicPr>
            <a:picLocks noChangeAspect="1"/>
          </p:cNvPicPr>
          <p:nvPr/>
        </p:nvPicPr>
        <p:blipFill>
          <a:blip r:embed="rId4"/>
          <a:stretch>
            <a:fillRect/>
          </a:stretch>
        </p:blipFill>
        <p:spPr>
          <a:xfrm>
            <a:off x="685800" y="3163824"/>
            <a:ext cx="237744" cy="237744"/>
          </a:xfrm>
          <a:prstGeom prst="rect">
            <a:avLst/>
          </a:prstGeom>
        </p:spPr>
      </p:pic>
      <p:sp>
        <p:nvSpPr>
          <p:cNvPr id="12" name="Text 6"/>
          <p:cNvSpPr txBox="1"/>
          <p:nvPr/>
        </p:nvSpPr>
        <p:spPr>
          <a:xfrm>
            <a:off x="1051560" y="3118104"/>
            <a:ext cx="3200400" cy="32918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0 zero or negative amounts</a:t>
            </a:r>
            <a:endParaRPr lang="en-US" sz="1400" dirty="0"/>
          </a:p>
        </p:txBody>
      </p:sp>
      <p:pic>
        <p:nvPicPr>
          <p:cNvPr id="13" name="Image 4" descr="check">    </p:cNvPr>
          <p:cNvPicPr>
            <a:picLocks noChangeAspect="1"/>
          </p:cNvPicPr>
          <p:nvPr/>
        </p:nvPicPr>
        <p:blipFill>
          <a:blip r:embed="rId5"/>
          <a:stretch>
            <a:fillRect/>
          </a:stretch>
        </p:blipFill>
        <p:spPr>
          <a:xfrm>
            <a:off x="685800" y="3593592"/>
            <a:ext cx="237744" cy="237744"/>
          </a:xfrm>
          <a:prstGeom prst="rect">
            <a:avLst/>
          </a:prstGeom>
        </p:spPr>
      </p:pic>
      <p:sp>
        <p:nvSpPr>
          <p:cNvPr id="14" name="Text 7"/>
          <p:cNvSpPr txBox="1"/>
          <p:nvPr/>
        </p:nvSpPr>
        <p:spPr>
          <a:xfrm>
            <a:off x="1051560" y="3547872"/>
            <a:ext cx="3200400" cy="32918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Only gaps: Device and Location (96 each)</a:t>
            </a:r>
            <a:endParaRPr lang="en-US" sz="1400" dirty="0"/>
          </a:p>
        </p:txBody>
      </p:sp>
      <p:pic>
        <p:nvPicPr>
          <p:cNvPr id="15" name="Image 5" descr="check">    </p:cNvPr>
          <p:cNvPicPr>
            <a:picLocks noChangeAspect="1"/>
          </p:cNvPicPr>
          <p:nvPr/>
        </p:nvPicPr>
        <p:blipFill>
          <a:blip r:embed="rId6"/>
          <a:stretch>
            <a:fillRect/>
          </a:stretch>
        </p:blipFill>
        <p:spPr>
          <a:xfrm>
            <a:off x="685800" y="4023360"/>
            <a:ext cx="237744" cy="237744"/>
          </a:xfrm>
          <a:prstGeom prst="rect">
            <a:avLst/>
          </a:prstGeom>
        </p:spPr>
      </p:pic>
      <p:sp>
        <p:nvSpPr>
          <p:cNvPr id="16" name="Text 8"/>
          <p:cNvSpPr txBox="1"/>
          <p:nvPr/>
        </p:nvSpPr>
        <p:spPr>
          <a:xfrm>
            <a:off x="1051560" y="3977640"/>
            <a:ext cx="3200400" cy="32918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Period: 1 Jan to 31 Mar 2026</a:t>
            </a:r>
            <a:endParaRPr lang="en-US" sz="1400" dirty="0"/>
          </a:p>
        </p:txBody>
      </p:sp>
      <p:graphicFrame>
        <p:nvGraphicFramePr>
          <p:cNvPr id="17" name="Chart 0" descr=""/>
          <p:cNvGraphicFramePr/>
          <p:nvPr/>
        </p:nvGraphicFramePr>
        <p:xfrm>
          <a:off x="4572000" y="1234440"/>
          <a:ext cx="4114800" cy="3291840"/>
        </p:xfrm>
        <a:graphic xmlns:a="http://schemas.openxmlformats.org/drawingml/2006/main">
          <a:graphicData uri="http://schemas.openxmlformats.org/drawingml/2006/chart">
            <c:chart xmlns:c="http://schemas.openxmlformats.org/drawingml/2006/chart" r:id="rId7"/>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600" b="1" dirty="0">
                <a:solidFill>
                  <a:schemeClr val="tx1"/>
                </a:solidFill>
              </a:rPr>
              <a:t>Review flags cluster at night, abroad, on transfers</a:t>
            </a:r>
            <a:endParaRPr lang="en-US" sz="2600" dirty="0"/>
          </a:p>
        </p:txBody>
      </p:sp>
      <p:graphicFrame>
        <p:nvGraphicFramePr>
          <p:cNvPr id="3" name="Chart 0" descr=""/>
          <p:cNvGraphicFramePr/>
          <p:nvPr/>
        </p:nvGraphicFramePr>
        <p:xfrm>
          <a:off x="457200" y="1188720"/>
          <a:ext cx="5394960" cy="338328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6126480" y="1280160"/>
            <a:ext cx="2560320" cy="3200400"/>
          </a:xfrm>
          <a:prstGeom prst="roundRect">
            <a:avLst>
              <a:gd name="adj" fmla="val 2857"/>
            </a:avLst>
          </a:prstGeom>
          <a:solidFill>
            <a:srgbClr val="EEF3F8"/>
          </a:solidFill>
          <a:ln/>
          <a:effectLst>
            <a:outerShdw sx="100000" sy="100000" kx="0" ky="0" algn="bl" rotWithShape="0" blurRad="101600" dist="25400" dir="5400000">
              <a:srgbClr val="000000">
                <a:alpha val="12000"/>
              </a:srgbClr>
            </a:outerShdw>
          </a:effectLst>
        </p:spPr>
      </p:sp>
      <p:sp>
        <p:nvSpPr>
          <p:cNvPr id="5" name="Icon circle"/>
          <p:cNvSpPr/>
          <p:nvPr/>
        </p:nvSpPr>
        <p:spPr>
          <a:xfrm>
            <a:off x="6355080" y="1463040"/>
            <a:ext cx="457200" cy="457200"/>
          </a:xfrm>
          <a:prstGeom prst="ellipse">
            <a:avLst/>
          </a:prstGeom>
          <a:solidFill>
            <a:srgbClr val="0B7A7D"/>
          </a:solidFill>
          <a:ln/>
        </p:spPr>
      </p:sp>
      <p:pic>
        <p:nvPicPr>
          <p:cNvPr id="6" name="Image 0" descr="FaSearch">    </p:cNvPr>
          <p:cNvPicPr>
            <a:picLocks noChangeAspect="1"/>
          </p:cNvPicPr>
          <p:nvPr/>
        </p:nvPicPr>
        <p:blipFill>
          <a:blip r:embed="rId2"/>
          <a:stretch>
            <a:fillRect/>
          </a:stretch>
        </p:blipFill>
        <p:spPr>
          <a:xfrm>
            <a:off x="6469380" y="1577340"/>
            <a:ext cx="228600" cy="228600"/>
          </a:xfrm>
          <a:prstGeom prst="rect">
            <a:avLst/>
          </a:prstGeom>
        </p:spPr>
      </p:pic>
      <p:sp>
        <p:nvSpPr>
          <p:cNvPr id="7" name="Text 3"/>
          <p:cNvSpPr txBox="1"/>
          <p:nvPr/>
        </p:nvSpPr>
        <p:spPr>
          <a:xfrm>
            <a:off x="6355080" y="2057400"/>
            <a:ext cx="2103120" cy="2743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Why it matters</a:t>
            </a:r>
            <a:endParaRPr lang="en-US" sz="1600" dirty="0"/>
          </a:p>
        </p:txBody>
      </p:sp>
      <p:sp>
        <p:nvSpPr>
          <p:cNvPr id="8" name="Text 4"/>
          <p:cNvSpPr txBox="1"/>
          <p:nvPr/>
        </p:nvSpPr>
        <p:spPr>
          <a:xfrm>
            <a:off x="6355080" y="2423160"/>
            <a:ext cx="2148840" cy="1920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International transactions are flagged almost twice as often as domestic ones, and night-time about 1.7x more than daytime. These are the patterns the model learns.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600" b="1" dirty="0">
                <a:solidFill>
                  <a:schemeClr val="tx1"/>
                </a:solidFill>
              </a:rPr>
              <a:t>Designed to avoid leakage and unfair inputs</a:t>
            </a:r>
            <a:endParaRPr lang="en-US" sz="2600" dirty="0"/>
          </a:p>
        </p:txBody>
      </p:sp>
      <p:sp>
        <p:nvSpPr>
          <p:cNvPr id="3" name="Dev period"/>
          <p:cNvSpPr/>
          <p:nvPr/>
        </p:nvSpPr>
        <p:spPr>
          <a:xfrm>
            <a:off x="457200" y="1280160"/>
            <a:ext cx="5394960" cy="685800"/>
          </a:xfrm>
          <a:prstGeom prst="roundRect">
            <a:avLst>
              <a:gd name="adj" fmla="val 8000"/>
            </a:avLst>
          </a:prstGeom>
          <a:solidFill>
            <a:srgbClr val="0B7A7D"/>
          </a:solidFill>
          <a:ln/>
        </p:spPr>
      </p:sp>
      <p:sp>
        <p:nvSpPr>
          <p:cNvPr id="4" name="Text 2"/>
          <p:cNvSpPr txBox="1"/>
          <p:nvPr/>
        </p:nvSpPr>
        <p:spPr>
          <a:xfrm>
            <a:off x="640080" y="1280160"/>
            <a:ext cx="5029200" cy="685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Jan-Feb: development (7,867)</a:t>
            </a:r>
            <a:endParaRPr lang="en-US" sz="1400" dirty="0"/>
          </a:p>
        </p:txBody>
      </p:sp>
      <p:sp>
        <p:nvSpPr>
          <p:cNvPr id="5" name="Test period"/>
          <p:cNvSpPr/>
          <p:nvPr/>
        </p:nvSpPr>
        <p:spPr>
          <a:xfrm>
            <a:off x="5943600" y="1280160"/>
            <a:ext cx="2743200" cy="685800"/>
          </a:xfrm>
          <a:prstGeom prst="roundRect">
            <a:avLst>
              <a:gd name="adj" fmla="val 8000"/>
            </a:avLst>
          </a:prstGeom>
          <a:solidFill>
            <a:srgbClr val="F2A541"/>
          </a:solidFill>
          <a:ln/>
        </p:spPr>
      </p:sp>
      <p:sp>
        <p:nvSpPr>
          <p:cNvPr id="6" name="Text 4"/>
          <p:cNvSpPr txBox="1"/>
          <p:nvPr/>
        </p:nvSpPr>
        <p:spPr>
          <a:xfrm>
            <a:off x="6035040" y="1280160"/>
            <a:ext cx="2560320" cy="6858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Mar: untouched test (4,133)</a:t>
            </a:r>
            <a:endParaRPr lang="en-US" sz="1400" dirty="0"/>
          </a:p>
        </p:txBody>
      </p:sp>
      <p:sp>
        <p:nvSpPr>
          <p:cNvPr id="7" name="Card"/>
          <p:cNvSpPr/>
          <p:nvPr/>
        </p:nvSpPr>
        <p:spPr>
          <a:xfrm>
            <a:off x="457200" y="2286000"/>
            <a:ext cx="2560320" cy="2194560"/>
          </a:xfrm>
          <a:prstGeom prst="roundRect">
            <a:avLst>
              <a:gd name="adj" fmla="val 3333"/>
            </a:avLst>
          </a:prstGeom>
          <a:solidFill>
            <a:schemeClr val="bg2"/>
          </a:solidFill>
          <a:ln/>
          <a:effectLst>
            <a:outerShdw sx="100000" sy="100000" kx="0" ky="0" algn="bl" rotWithShape="0" blurRad="101600" dist="25400" dir="5400000">
              <a:srgbClr val="000000">
                <a:alpha val="12000"/>
              </a:srgbClr>
            </a:outerShdw>
          </a:effectLst>
        </p:spPr>
      </p:sp>
      <p:sp>
        <p:nvSpPr>
          <p:cNvPr id="8" name="Icon circle"/>
          <p:cNvSpPr/>
          <p:nvPr/>
        </p:nvSpPr>
        <p:spPr>
          <a:xfrm>
            <a:off x="640080" y="2468880"/>
            <a:ext cx="502920" cy="502920"/>
          </a:xfrm>
          <a:prstGeom prst="ellipse">
            <a:avLst/>
          </a:prstGeom>
          <a:solidFill>
            <a:srgbClr val="12355B"/>
          </a:solidFill>
          <a:ln/>
        </p:spPr>
      </p:sp>
      <p:pic>
        <p:nvPicPr>
          <p:cNvPr id="9" name="Image 0" descr="FaLock">    </p:cNvPr>
          <p:cNvPicPr>
            <a:picLocks noChangeAspect="1"/>
          </p:cNvPicPr>
          <p:nvPr/>
        </p:nvPicPr>
        <p:blipFill>
          <a:blip r:embed="rId1"/>
          <a:stretch>
            <a:fillRect/>
          </a:stretch>
        </p:blipFill>
        <p:spPr>
          <a:xfrm>
            <a:off x="765810" y="2594610"/>
            <a:ext cx="251460" cy="251460"/>
          </a:xfrm>
          <a:prstGeom prst="rect">
            <a:avLst/>
          </a:prstGeom>
        </p:spPr>
      </p:pic>
      <p:sp>
        <p:nvSpPr>
          <p:cNvPr id="10" name="Text 7"/>
          <p:cNvSpPr txBox="1"/>
          <p:nvPr/>
        </p:nvSpPr>
        <p:spPr>
          <a:xfrm>
            <a:off x="640080" y="3108960"/>
            <a:ext cx="2194560" cy="32004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Outcome field excluded</a:t>
            </a:r>
            <a:endParaRPr lang="en-US" sz="1500" dirty="0"/>
          </a:p>
        </p:txBody>
      </p:sp>
      <p:sp>
        <p:nvSpPr>
          <p:cNvPr id="11" name="Text 8"/>
          <p:cNvSpPr txBox="1"/>
          <p:nvPr/>
        </p:nvSpPr>
        <p:spPr>
          <a:xfrm>
            <a:off x="640080" y="3474720"/>
            <a:ext cx="2240280" cy="91440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Transaction status is only known after processing. Using it would inflate results and fail in live use.</a:t>
            </a:r>
            <a:endParaRPr lang="en-US" sz="1350" dirty="0"/>
          </a:p>
        </p:txBody>
      </p:sp>
      <p:sp>
        <p:nvSpPr>
          <p:cNvPr id="12" name="Card"/>
          <p:cNvSpPr/>
          <p:nvPr/>
        </p:nvSpPr>
        <p:spPr>
          <a:xfrm>
            <a:off x="3291840" y="2286000"/>
            <a:ext cx="2560320" cy="2194560"/>
          </a:xfrm>
          <a:prstGeom prst="roundRect">
            <a:avLst>
              <a:gd name="adj" fmla="val 3333"/>
            </a:avLst>
          </a:prstGeom>
          <a:solidFill>
            <a:schemeClr val="bg2"/>
          </a:solidFill>
          <a:ln/>
          <a:effectLst>
            <a:outerShdw sx="100000" sy="100000" kx="0" ky="0" algn="bl" rotWithShape="0" blurRad="101600" dist="25400" dir="5400000">
              <a:srgbClr val="000000">
                <a:alpha val="12000"/>
              </a:srgbClr>
            </a:outerShdw>
          </a:effectLst>
        </p:spPr>
      </p:sp>
      <p:sp>
        <p:nvSpPr>
          <p:cNvPr id="13" name="Icon circle"/>
          <p:cNvSpPr/>
          <p:nvPr/>
        </p:nvSpPr>
        <p:spPr>
          <a:xfrm>
            <a:off x="3474720" y="2468880"/>
            <a:ext cx="502920" cy="502920"/>
          </a:xfrm>
          <a:prstGeom prst="ellipse">
            <a:avLst/>
          </a:prstGeom>
          <a:solidFill>
            <a:srgbClr val="12355B"/>
          </a:solidFill>
          <a:ln/>
        </p:spPr>
      </p:sp>
      <p:pic>
        <p:nvPicPr>
          <p:cNvPr id="14" name="Image 1" descr="FaUserShield">    </p:cNvPr>
          <p:cNvPicPr>
            <a:picLocks noChangeAspect="1"/>
          </p:cNvPicPr>
          <p:nvPr/>
        </p:nvPicPr>
        <p:blipFill>
          <a:blip r:embed="rId2"/>
          <a:stretch>
            <a:fillRect/>
          </a:stretch>
        </p:blipFill>
        <p:spPr>
          <a:xfrm>
            <a:off x="3600450" y="2594610"/>
            <a:ext cx="251460" cy="251460"/>
          </a:xfrm>
          <a:prstGeom prst="rect">
            <a:avLst/>
          </a:prstGeom>
        </p:spPr>
      </p:pic>
      <p:sp>
        <p:nvSpPr>
          <p:cNvPr id="15" name="Text 11"/>
          <p:cNvSpPr txBox="1"/>
          <p:nvPr/>
        </p:nvSpPr>
        <p:spPr>
          <a:xfrm>
            <a:off x="3474720" y="3108960"/>
            <a:ext cx="2194560" cy="32004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Personal data excluded</a:t>
            </a:r>
            <a:endParaRPr lang="en-US" sz="1500" dirty="0"/>
          </a:p>
        </p:txBody>
      </p:sp>
      <p:sp>
        <p:nvSpPr>
          <p:cNvPr id="16" name="Text 12"/>
          <p:cNvSpPr txBox="1"/>
          <p:nvPr/>
        </p:nvSpPr>
        <p:spPr>
          <a:xfrm>
            <a:off x="3474720" y="3474720"/>
            <a:ext cx="2240280" cy="91440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Gender, names and IDs are not model inputs. Gender is protected and added no signal.</a:t>
            </a:r>
            <a:endParaRPr lang="en-US" sz="1350" dirty="0"/>
          </a:p>
        </p:txBody>
      </p:sp>
      <p:sp>
        <p:nvSpPr>
          <p:cNvPr id="17" name="Card"/>
          <p:cNvSpPr/>
          <p:nvPr/>
        </p:nvSpPr>
        <p:spPr>
          <a:xfrm>
            <a:off x="6126480" y="2286000"/>
            <a:ext cx="2560320" cy="2194560"/>
          </a:xfrm>
          <a:prstGeom prst="roundRect">
            <a:avLst>
              <a:gd name="adj" fmla="val 3333"/>
            </a:avLst>
          </a:prstGeom>
          <a:solidFill>
            <a:schemeClr val="bg2"/>
          </a:solidFill>
          <a:ln/>
          <a:effectLst>
            <a:outerShdw sx="100000" sy="100000" kx="0" ky="0" algn="bl" rotWithShape="0" blurRad="101600" dist="25400" dir="5400000">
              <a:srgbClr val="000000">
                <a:alpha val="12000"/>
              </a:srgbClr>
            </a:outerShdw>
          </a:effectLst>
        </p:spPr>
      </p:sp>
      <p:sp>
        <p:nvSpPr>
          <p:cNvPr id="18" name="Icon circle"/>
          <p:cNvSpPr/>
          <p:nvPr/>
        </p:nvSpPr>
        <p:spPr>
          <a:xfrm>
            <a:off x="6309360" y="2468880"/>
            <a:ext cx="502920" cy="502920"/>
          </a:xfrm>
          <a:prstGeom prst="ellipse">
            <a:avLst/>
          </a:prstGeom>
          <a:solidFill>
            <a:srgbClr val="F2A541"/>
          </a:solidFill>
          <a:ln/>
        </p:spPr>
      </p:sp>
      <p:pic>
        <p:nvPicPr>
          <p:cNvPr id="19" name="Image 2" descr="FaFlask">    </p:cNvPr>
          <p:cNvPicPr>
            <a:picLocks noChangeAspect="1"/>
          </p:cNvPicPr>
          <p:nvPr/>
        </p:nvPicPr>
        <p:blipFill>
          <a:blip r:embed="rId3"/>
          <a:stretch>
            <a:fillRect/>
          </a:stretch>
        </p:blipFill>
        <p:spPr>
          <a:xfrm>
            <a:off x="6435090" y="2594610"/>
            <a:ext cx="251460" cy="251460"/>
          </a:xfrm>
          <a:prstGeom prst="rect">
            <a:avLst/>
          </a:prstGeom>
        </p:spPr>
      </p:pic>
      <p:sp>
        <p:nvSpPr>
          <p:cNvPr id="20" name="Text 15"/>
          <p:cNvSpPr txBox="1"/>
          <p:nvPr/>
        </p:nvSpPr>
        <p:spPr>
          <a:xfrm>
            <a:off x="6309360" y="3108960"/>
            <a:ext cx="2194560" cy="32004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Honest evaluation</a:t>
            </a:r>
            <a:endParaRPr lang="en-US" sz="1500" dirty="0"/>
          </a:p>
        </p:txBody>
      </p:sp>
      <p:sp>
        <p:nvSpPr>
          <p:cNvPr id="21" name="Text 16"/>
          <p:cNvSpPr txBox="1"/>
          <p:nvPr/>
        </p:nvSpPr>
        <p:spPr>
          <a:xfrm>
            <a:off x="6309360" y="3474720"/>
            <a:ext cx="2240280" cy="91440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Model and threshold chosen on Jan-Feb only. March was scored once, like a real future month.</a:t>
            </a:r>
            <a:endParaRPr lang="en-US" sz="13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600" b="1" dirty="0">
                <a:solidFill>
                  <a:schemeClr val="tx1"/>
                </a:solidFill>
              </a:rPr>
              <a:t>Model selection: gradient boosting wins</a:t>
            </a:r>
            <a:endParaRPr lang="en-US" sz="2600" dirty="0"/>
          </a:p>
        </p:txBody>
      </p:sp>
      <p:graphicFrame>
        <p:nvGraphicFramePr>
          <p:cNvPr id="3" name="Chart 0" descr=""/>
          <p:cNvGraphicFramePr/>
          <p:nvPr/>
        </p:nvGraphicFramePr>
        <p:xfrm>
          <a:off x="457200" y="1188720"/>
          <a:ext cx="5303520" cy="338328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6035040" y="1280160"/>
            <a:ext cx="2651760" cy="3200400"/>
          </a:xfrm>
          <a:prstGeom prst="roundRect">
            <a:avLst>
              <a:gd name="adj" fmla="val 2759"/>
            </a:avLst>
          </a:prstGeom>
          <a:solidFill>
            <a:srgbClr val="EEF3F8"/>
          </a:solidFill>
          <a:ln/>
          <a:effectLst>
            <a:outerShdw sx="100000" sy="100000" kx="0" ky="0" algn="bl" rotWithShape="0" blurRad="101600" dist="25400" dir="5400000">
              <a:srgbClr val="000000">
                <a:alpha val="12000"/>
              </a:srgbClr>
            </a:outerShdw>
          </a:effectLst>
        </p:spPr>
      </p:sp>
      <p:sp>
        <p:nvSpPr>
          <p:cNvPr id="5" name="Text 2"/>
          <p:cNvSpPr txBox="1"/>
          <p:nvPr/>
        </p:nvSpPr>
        <p:spPr>
          <a:xfrm>
            <a:off x="6263640" y="1417320"/>
            <a:ext cx="2286000" cy="2743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What we learned</a:t>
            </a:r>
            <a:endParaRPr lang="en-US" sz="1600" dirty="0"/>
          </a:p>
        </p:txBody>
      </p:sp>
      <p:sp>
        <p:nvSpPr>
          <p:cNvPr id="6" name="Text 3"/>
          <p:cNvSpPr txBox="1"/>
          <p:nvPr/>
        </p:nvSpPr>
        <p:spPr>
          <a:xfrm>
            <a:off x="6263640" y="1828800"/>
            <a:ext cx="228600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Gradient boosting scored best in 5-fold cross-validation.</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Customer attributes did not help, so the final model ignores them.</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Fewer inputs means a simpler, more privacy-friendly model.</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600" b="1" dirty="0">
                <a:solidFill>
                  <a:schemeClr val="tx1"/>
                </a:solidFill>
              </a:rPr>
              <a:t>Results on unseen March data</a:t>
            </a:r>
            <a:endParaRPr lang="en-US" sz="2600" dirty="0"/>
          </a:p>
        </p:txBody>
      </p:sp>
      <p:sp>
        <p:nvSpPr>
          <p:cNvPr id="3" name="Card"/>
          <p:cNvSpPr/>
          <p:nvPr/>
        </p:nvSpPr>
        <p:spPr>
          <a:xfrm>
            <a:off x="457200" y="1280160"/>
            <a:ext cx="1828800" cy="1417320"/>
          </a:xfrm>
          <a:prstGeom prst="roundRect">
            <a:avLst>
              <a:gd name="adj" fmla="val 5161"/>
            </a:avLst>
          </a:prstGeom>
          <a:solidFill>
            <a:schemeClr val="bg2"/>
          </a:solidFill>
          <a:ln/>
          <a:effectLst>
            <a:outerShdw sx="100000" sy="100000" kx="0" ky="0" algn="bl" rotWithShape="0" blurRad="101600" dist="25400" dir="5400000">
              <a:srgbClr val="000000">
                <a:alpha val="12000"/>
              </a:srgbClr>
            </a:outerShdw>
          </a:effectLst>
        </p:spPr>
      </p:sp>
      <p:sp>
        <p:nvSpPr>
          <p:cNvPr id="4" name="Text 2"/>
          <p:cNvSpPr txBox="1"/>
          <p:nvPr/>
        </p:nvSpPr>
        <p:spPr>
          <a:xfrm>
            <a:off x="457200" y="1371600"/>
            <a:ext cx="1828800" cy="54864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0.68</a:t>
            </a:r>
            <a:endParaRPr lang="en-US" sz="3200" dirty="0"/>
          </a:p>
        </p:txBody>
      </p:sp>
      <p:sp>
        <p:nvSpPr>
          <p:cNvPr id="5" name="Text 3"/>
          <p:cNvSpPr txBox="1"/>
          <p:nvPr/>
        </p:nvSpPr>
        <p:spPr>
          <a:xfrm>
            <a:off x="457200" y="1920240"/>
            <a:ext cx="1828800" cy="27432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ROC-AUC</a:t>
            </a:r>
            <a:endParaRPr lang="en-US" sz="1400" dirty="0"/>
          </a:p>
        </p:txBody>
      </p:sp>
      <p:sp>
        <p:nvSpPr>
          <p:cNvPr id="6" name="Text 4"/>
          <p:cNvSpPr txBox="1"/>
          <p:nvPr/>
        </p:nvSpPr>
        <p:spPr>
          <a:xfrm>
            <a:off x="548640" y="2194560"/>
            <a:ext cx="1645920" cy="411480"/>
          </a:xfrm>
          <a:prstGeom prst="rect">
            <a:avLst/>
          </a:prstGeom>
          <a:noFill/>
          <a:ln/>
        </p:spPr>
        <p:txBody>
          <a:bodyPr wrap="square" lIns="0" tIns="0" rIns="0" bIns="0" rtlCol="0" anchor="t"/>
          <a:lstStyle/>
          <a:p>
            <a:pPr algn="ctr" indent="0" marL="0">
              <a:buNone/>
            </a:pPr>
            <a:r>
              <a:rPr lang="en-US" sz="1250" dirty="0">
                <a:solidFill>
                  <a:schemeClr val="accent4"/>
                </a:solidFill>
                <a:latin typeface="Calibri" pitchFamily="34" charset="0"/>
                <a:ea typeface="Calibri" pitchFamily="34" charset="-122"/>
                <a:cs typeface="Calibri" pitchFamily="34" charset="-120"/>
              </a:rPr>
              <a:t>0.50 = coin flip</a:t>
            </a:r>
            <a:endParaRPr lang="en-US" sz="1250" dirty="0"/>
          </a:p>
        </p:txBody>
      </p:sp>
      <p:sp>
        <p:nvSpPr>
          <p:cNvPr id="7" name="Card"/>
          <p:cNvSpPr/>
          <p:nvPr/>
        </p:nvSpPr>
        <p:spPr>
          <a:xfrm>
            <a:off x="2468880" y="1280160"/>
            <a:ext cx="1828800" cy="1417320"/>
          </a:xfrm>
          <a:prstGeom prst="roundRect">
            <a:avLst>
              <a:gd name="adj" fmla="val 5161"/>
            </a:avLst>
          </a:prstGeom>
          <a:solidFill>
            <a:schemeClr val="bg2"/>
          </a:solidFill>
          <a:ln/>
          <a:effectLst>
            <a:outerShdw sx="100000" sy="100000" kx="0" ky="0" algn="bl" rotWithShape="0" blurRad="101600" dist="25400" dir="5400000">
              <a:srgbClr val="000000">
                <a:alpha val="12000"/>
              </a:srgbClr>
            </a:outerShdw>
          </a:effectLst>
        </p:spPr>
      </p:sp>
      <p:sp>
        <p:nvSpPr>
          <p:cNvPr id="8" name="Text 6"/>
          <p:cNvSpPr txBox="1"/>
          <p:nvPr/>
        </p:nvSpPr>
        <p:spPr>
          <a:xfrm>
            <a:off x="2468880" y="1371600"/>
            <a:ext cx="1828800" cy="54864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0.35</a:t>
            </a:r>
            <a:endParaRPr lang="en-US" sz="3200" dirty="0"/>
          </a:p>
        </p:txBody>
      </p:sp>
      <p:sp>
        <p:nvSpPr>
          <p:cNvPr id="9" name="Text 7"/>
          <p:cNvSpPr txBox="1"/>
          <p:nvPr/>
        </p:nvSpPr>
        <p:spPr>
          <a:xfrm>
            <a:off x="2468880" y="1920240"/>
            <a:ext cx="1828800" cy="27432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PR-AUC</a:t>
            </a:r>
            <a:endParaRPr lang="en-US" sz="1400" dirty="0"/>
          </a:p>
        </p:txBody>
      </p:sp>
      <p:sp>
        <p:nvSpPr>
          <p:cNvPr id="10" name="Text 8"/>
          <p:cNvSpPr txBox="1"/>
          <p:nvPr/>
        </p:nvSpPr>
        <p:spPr>
          <a:xfrm>
            <a:off x="2560320" y="2194560"/>
            <a:ext cx="1645920" cy="411480"/>
          </a:xfrm>
          <a:prstGeom prst="rect">
            <a:avLst/>
          </a:prstGeom>
          <a:noFill/>
          <a:ln/>
        </p:spPr>
        <p:txBody>
          <a:bodyPr wrap="square" lIns="0" tIns="0" rIns="0" bIns="0" rtlCol="0" anchor="t"/>
          <a:lstStyle/>
          <a:p>
            <a:pPr algn="ctr" indent="0" marL="0">
              <a:buNone/>
            </a:pPr>
            <a:r>
              <a:rPr lang="en-US" sz="1250" dirty="0">
                <a:solidFill>
                  <a:schemeClr val="accent4"/>
                </a:solidFill>
                <a:latin typeface="Calibri" pitchFamily="34" charset="0"/>
                <a:ea typeface="Calibri" pitchFamily="34" charset="-122"/>
                <a:cs typeface="Calibri" pitchFamily="34" charset="-120"/>
              </a:rPr>
              <a:t>vs 0.20 base rate</a:t>
            </a:r>
            <a:endParaRPr lang="en-US" sz="1250" dirty="0"/>
          </a:p>
        </p:txBody>
      </p:sp>
      <p:sp>
        <p:nvSpPr>
          <p:cNvPr id="11" name="Card"/>
          <p:cNvSpPr/>
          <p:nvPr/>
        </p:nvSpPr>
        <p:spPr>
          <a:xfrm>
            <a:off x="457200" y="2880360"/>
            <a:ext cx="1828800" cy="1417320"/>
          </a:xfrm>
          <a:prstGeom prst="roundRect">
            <a:avLst>
              <a:gd name="adj" fmla="val 5161"/>
            </a:avLst>
          </a:prstGeom>
          <a:solidFill>
            <a:schemeClr val="bg2"/>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457200" y="2971800"/>
            <a:ext cx="1828800" cy="54864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33%</a:t>
            </a:r>
            <a:endParaRPr lang="en-US" sz="3200" dirty="0"/>
          </a:p>
        </p:txBody>
      </p:sp>
      <p:sp>
        <p:nvSpPr>
          <p:cNvPr id="13" name="Text 11"/>
          <p:cNvSpPr txBox="1"/>
          <p:nvPr/>
        </p:nvSpPr>
        <p:spPr>
          <a:xfrm>
            <a:off x="457200" y="3520440"/>
            <a:ext cx="1828800" cy="27432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Precision</a:t>
            </a:r>
            <a:endParaRPr lang="en-US" sz="1400" dirty="0"/>
          </a:p>
        </p:txBody>
      </p:sp>
      <p:sp>
        <p:nvSpPr>
          <p:cNvPr id="14" name="Text 12"/>
          <p:cNvSpPr txBox="1"/>
          <p:nvPr/>
        </p:nvSpPr>
        <p:spPr>
          <a:xfrm>
            <a:off x="548640" y="3794760"/>
            <a:ext cx="1645920" cy="411480"/>
          </a:xfrm>
          <a:prstGeom prst="rect">
            <a:avLst/>
          </a:prstGeom>
          <a:noFill/>
          <a:ln/>
        </p:spPr>
        <p:txBody>
          <a:bodyPr wrap="square" lIns="0" tIns="0" rIns="0" bIns="0" rtlCol="0" anchor="t"/>
          <a:lstStyle/>
          <a:p>
            <a:pPr algn="ctr" indent="0" marL="0">
              <a:buNone/>
            </a:pPr>
            <a:r>
              <a:rPr lang="en-US" sz="1250" dirty="0">
                <a:solidFill>
                  <a:schemeClr val="accent4"/>
                </a:solidFill>
                <a:latin typeface="Calibri" pitchFamily="34" charset="0"/>
                <a:ea typeface="Calibri" pitchFamily="34" charset="-122"/>
                <a:cs typeface="Calibri" pitchFamily="34" charset="-120"/>
              </a:rPr>
              <a:t>of flagged are review cases</a:t>
            </a:r>
            <a:endParaRPr lang="en-US" sz="1250" dirty="0"/>
          </a:p>
        </p:txBody>
      </p:sp>
      <p:sp>
        <p:nvSpPr>
          <p:cNvPr id="15" name="Card"/>
          <p:cNvSpPr/>
          <p:nvPr/>
        </p:nvSpPr>
        <p:spPr>
          <a:xfrm>
            <a:off x="2468880" y="2880360"/>
            <a:ext cx="1828800" cy="1417320"/>
          </a:xfrm>
          <a:prstGeom prst="roundRect">
            <a:avLst>
              <a:gd name="adj" fmla="val 5161"/>
            </a:avLst>
          </a:prstGeom>
          <a:solidFill>
            <a:schemeClr val="bg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2468880" y="2971800"/>
            <a:ext cx="1828800" cy="54864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45%</a:t>
            </a:r>
            <a:endParaRPr lang="en-US" sz="3200" dirty="0"/>
          </a:p>
        </p:txBody>
      </p:sp>
      <p:sp>
        <p:nvSpPr>
          <p:cNvPr id="17" name="Text 15"/>
          <p:cNvSpPr txBox="1"/>
          <p:nvPr/>
        </p:nvSpPr>
        <p:spPr>
          <a:xfrm>
            <a:off x="2468880" y="3520440"/>
            <a:ext cx="1828800" cy="27432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Recall</a:t>
            </a:r>
            <a:endParaRPr lang="en-US" sz="1400" dirty="0"/>
          </a:p>
        </p:txBody>
      </p:sp>
      <p:sp>
        <p:nvSpPr>
          <p:cNvPr id="18" name="Text 16"/>
          <p:cNvSpPr txBox="1"/>
          <p:nvPr/>
        </p:nvSpPr>
        <p:spPr>
          <a:xfrm>
            <a:off x="2560320" y="3794760"/>
            <a:ext cx="1645920" cy="411480"/>
          </a:xfrm>
          <a:prstGeom prst="rect">
            <a:avLst/>
          </a:prstGeom>
          <a:noFill/>
          <a:ln/>
        </p:spPr>
        <p:txBody>
          <a:bodyPr wrap="square" lIns="0" tIns="0" rIns="0" bIns="0" rtlCol="0" anchor="t"/>
          <a:lstStyle/>
          <a:p>
            <a:pPr algn="ctr" indent="0" marL="0">
              <a:buNone/>
            </a:pPr>
            <a:r>
              <a:rPr lang="en-US" sz="1250" dirty="0">
                <a:solidFill>
                  <a:schemeClr val="accent4"/>
                </a:solidFill>
                <a:latin typeface="Calibri" pitchFamily="34" charset="0"/>
                <a:ea typeface="Calibri" pitchFamily="34" charset="-122"/>
                <a:cs typeface="Calibri" pitchFamily="34" charset="-120"/>
              </a:rPr>
              <a:t>of review cases caught</a:t>
            </a:r>
            <a:endParaRPr lang="en-US" sz="1250" dirty="0"/>
          </a:p>
        </p:txBody>
      </p:sp>
      <p:graphicFrame>
        <p:nvGraphicFramePr>
          <p:cNvPr id="19" name="Chart 0" descr=""/>
          <p:cNvGraphicFramePr/>
          <p:nvPr/>
        </p:nvGraphicFramePr>
        <p:xfrm>
          <a:off x="4572000" y="1188720"/>
          <a:ext cx="4114800" cy="33832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600" b="1" dirty="0">
                <a:solidFill>
                  <a:schemeClr val="tx1"/>
                </a:solidFill>
              </a:rPr>
              <a:t>The model edges a simple rule, not by much</a:t>
            </a:r>
            <a:endParaRPr lang="en-US" sz="2600" dirty="0"/>
          </a:p>
        </p:txBody>
      </p:sp>
      <p:graphicFrame>
        <p:nvGraphicFramePr>
          <p:cNvPr id="3" name="Chart 0" descr=""/>
          <p:cNvGraphicFramePr/>
          <p:nvPr/>
        </p:nvGraphicFramePr>
        <p:xfrm>
          <a:off x="457200" y="1188720"/>
          <a:ext cx="5394960" cy="338328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6126480" y="1280160"/>
            <a:ext cx="2560320" cy="3200400"/>
          </a:xfrm>
          <a:prstGeom prst="roundRect">
            <a:avLst>
              <a:gd name="adj" fmla="val 2857"/>
            </a:avLst>
          </a:prstGeom>
          <a:solidFill>
            <a:srgbClr val="EEF3F8"/>
          </a:solidFill>
          <a:ln/>
          <a:effectLst>
            <a:outerShdw sx="100000" sy="100000" kx="0" ky="0" algn="bl" rotWithShape="0" blurRad="101600" dist="25400" dir="5400000">
              <a:srgbClr val="000000">
                <a:alpha val="12000"/>
              </a:srgbClr>
            </a:outerShdw>
          </a:effectLst>
        </p:spPr>
      </p:sp>
      <p:sp>
        <p:nvSpPr>
          <p:cNvPr id="5" name="Text 2"/>
          <p:cNvSpPr txBox="1"/>
          <p:nvPr/>
        </p:nvSpPr>
        <p:spPr>
          <a:xfrm>
            <a:off x="6355080" y="1417320"/>
            <a:ext cx="2194560" cy="5029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Reading the comparison</a:t>
            </a:r>
            <a:endParaRPr lang="en-US" sz="1500" dirty="0"/>
          </a:p>
        </p:txBody>
      </p:sp>
      <p:sp>
        <p:nvSpPr>
          <p:cNvPr id="6" name="Text 3"/>
          <p:cNvSpPr txBox="1"/>
          <p:nvPr/>
        </p:nvSpPr>
        <p:spPr>
          <a:xfrm>
            <a:off x="6355080" y="2011680"/>
            <a:ext cx="219456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Model is more precise and flags fewer items (27% vs 36%).</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The rule catches slightly more cases (52% vs 45%).</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F1 is almost identical.</a:t>
            </a:r>
            <a:endParaRPr lang="en-US" sz="1400" dirty="0"/>
          </a:p>
        </p:txBody>
      </p:sp>
      <p:sp>
        <p:nvSpPr>
          <p:cNvPr id="7" name="Text 4"/>
          <p:cNvSpPr txBox="1"/>
          <p:nvPr/>
        </p:nvSpPr>
        <p:spPr>
          <a:xfrm>
            <a:off x="6355080" y="3931920"/>
            <a:ext cx="2194560" cy="457200"/>
          </a:xfrm>
          <a:prstGeom prst="rect">
            <a:avLst/>
          </a:prstGeom>
          <a:noFill/>
          <a:ln/>
        </p:spPr>
        <p:txBody>
          <a:bodyPr wrap="square" lIns="0" tIns="0" rIns="0" bIns="0" rtlCol="0" anchor="t"/>
          <a:lstStyle/>
          <a:p>
            <a:pPr indent="0" marL="0">
              <a:buNone/>
            </a:pPr>
            <a:r>
              <a:rPr lang="en-US" sz="1250" dirty="0">
                <a:solidFill>
                  <a:schemeClr val="accent4"/>
                </a:solidFill>
                <a:latin typeface="Calibri" pitchFamily="34" charset="0"/>
                <a:ea typeface="Calibri" pitchFamily="34" charset="-122"/>
                <a:cs typeface="Calibri" pitchFamily="34" charset="-120"/>
              </a:rPr>
              <a:t>Rule: international OR night OR top-10% amount.</a:t>
            </a:r>
            <a:endParaRPr lang="en-US" sz="12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600" b="1" dirty="0">
                <a:solidFill>
                  <a:schemeClr val="tx1"/>
                </a:solidFill>
              </a:rPr>
              <a:t>Choosing the operating point: workload vs coverage</a:t>
            </a:r>
            <a:endParaRPr lang="en-US" sz="2600" dirty="0"/>
          </a:p>
        </p:txBody>
      </p:sp>
      <p:sp>
        <p:nvSpPr>
          <p:cNvPr id="3" name="Card"/>
          <p:cNvSpPr/>
          <p:nvPr/>
        </p:nvSpPr>
        <p:spPr>
          <a:xfrm>
            <a:off x="457200" y="1280160"/>
            <a:ext cx="3931920" cy="1463040"/>
          </a:xfrm>
          <a:prstGeom prst="roundRect">
            <a:avLst>
              <a:gd name="adj" fmla="val 5000"/>
            </a:avLst>
          </a:prstGeom>
          <a:solidFill>
            <a:srgbClr val="FBE9EC"/>
          </a:solidFill>
          <a:ln/>
          <a:effectLst>
            <a:outerShdw sx="100000" sy="100000" kx="0" ky="0" algn="bl" rotWithShape="0" blurRad="101600" dist="25400" dir="5400000">
              <a:srgbClr val="000000">
                <a:alpha val="12000"/>
              </a:srgbClr>
            </a:outerShdw>
          </a:effectLst>
        </p:spPr>
      </p:sp>
      <p:sp>
        <p:nvSpPr>
          <p:cNvPr id="4" name="Text 2"/>
          <p:cNvSpPr txBox="1"/>
          <p:nvPr/>
        </p:nvSpPr>
        <p:spPr>
          <a:xfrm>
            <a:off x="640080" y="1371600"/>
            <a:ext cx="3566160" cy="274320"/>
          </a:xfrm>
          <a:prstGeom prst="rect">
            <a:avLst/>
          </a:prstGeom>
          <a:noFill/>
          <a:ln/>
        </p:spPr>
        <p:txBody>
          <a:bodyPr wrap="square" lIns="0" tIns="0" rIns="0" bIns="0" rtlCol="0" anchor="ctr"/>
          <a:lstStyle/>
          <a:p>
            <a:pPr indent="0" marL="0">
              <a:buNone/>
            </a:pPr>
            <a:r>
              <a:rPr lang="en-US" sz="1400" b="1" dirty="0">
                <a:solidFill>
                  <a:srgbClr val="C0283F"/>
                </a:solidFill>
                <a:latin typeface="Calibri" pitchFamily="34" charset="0"/>
                <a:ea typeface="Calibri" pitchFamily="34" charset="-122"/>
                <a:cs typeface="Calibri" pitchFamily="34" charset="-120"/>
              </a:rPr>
              <a:t>Rejected: maximise F1 only</a:t>
            </a:r>
            <a:endParaRPr lang="en-US" sz="1400" dirty="0"/>
          </a:p>
        </p:txBody>
      </p:sp>
      <p:sp>
        <p:nvSpPr>
          <p:cNvPr id="5" name="Text 3"/>
          <p:cNvSpPr txBox="1"/>
          <p:nvPr/>
        </p:nvSpPr>
        <p:spPr>
          <a:xfrm>
            <a:off x="640080" y="1691640"/>
            <a:ext cx="356616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Flags 59% of transactions. Recall 80%, precision 27%. No review team could work this queue.</a:t>
            </a:r>
            <a:endParaRPr lang="en-US" sz="1400" dirty="0"/>
          </a:p>
        </p:txBody>
      </p:sp>
      <p:sp>
        <p:nvSpPr>
          <p:cNvPr id="6" name="Card"/>
          <p:cNvSpPr/>
          <p:nvPr/>
        </p:nvSpPr>
        <p:spPr>
          <a:xfrm>
            <a:off x="457200" y="2926080"/>
            <a:ext cx="3931920" cy="1554480"/>
          </a:xfrm>
          <a:prstGeom prst="roundRect">
            <a:avLst>
              <a:gd name="adj" fmla="val 4706"/>
            </a:avLst>
          </a:prstGeom>
          <a:solidFill>
            <a:srgbClr val="E3F3F3"/>
          </a:solidFill>
          <a:ln/>
          <a:effectLst>
            <a:outerShdw sx="100000" sy="100000" kx="0" ky="0" algn="bl" rotWithShape="0" blurRad="101600" dist="25400" dir="5400000">
              <a:srgbClr val="000000">
                <a:alpha val="12000"/>
              </a:srgbClr>
            </a:outerShdw>
          </a:effectLst>
        </p:spPr>
      </p:sp>
      <p:sp>
        <p:nvSpPr>
          <p:cNvPr id="7" name="Text 5"/>
          <p:cNvSpPr txBox="1"/>
          <p:nvPr/>
        </p:nvSpPr>
        <p:spPr>
          <a:xfrm>
            <a:off x="640080" y="3017520"/>
            <a:ext cx="3566160" cy="274320"/>
          </a:xfrm>
          <a:prstGeom prst="rect">
            <a:avLst/>
          </a:prstGeom>
          <a:noFill/>
          <a:ln/>
        </p:spPr>
        <p:txBody>
          <a:bodyPr wrap="square" lIns="0" tIns="0" rIns="0" bIns="0" rtlCol="0" anchor="ctr"/>
          <a:lstStyle/>
          <a:p>
            <a:pPr indent="0" marL="0">
              <a:buNone/>
            </a:pPr>
            <a:r>
              <a:rPr lang="en-US" sz="1400" b="1" dirty="0">
                <a:solidFill>
                  <a:srgbClr val="0B7A7D"/>
                </a:solidFill>
                <a:latin typeface="Calibri" pitchFamily="34" charset="0"/>
                <a:ea typeface="Calibri" pitchFamily="34" charset="-122"/>
                <a:cs typeface="Calibri" pitchFamily="34" charset="-120"/>
              </a:rPr>
              <a:t>Chosen: capped at 30% workload</a:t>
            </a:r>
            <a:endParaRPr lang="en-US" sz="1400" dirty="0"/>
          </a:p>
        </p:txBody>
      </p:sp>
      <p:sp>
        <p:nvSpPr>
          <p:cNvPr id="8" name="Text 6"/>
          <p:cNvSpPr txBox="1"/>
          <p:nvPr/>
        </p:nvSpPr>
        <p:spPr>
          <a:xfrm>
            <a:off x="640080" y="3337560"/>
            <a:ext cx="3566160"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Flags 27%. Recall 45%, precision 33%. Fits the assumed capacity; change the cap and the threshold moves with it.</a:t>
            </a:r>
            <a:endParaRPr lang="en-US" sz="1400" dirty="0"/>
          </a:p>
        </p:txBody>
      </p:sp>
      <p:sp>
        <p:nvSpPr>
          <p:cNvPr id="9" name="Text 7"/>
          <p:cNvSpPr txBox="1"/>
          <p:nvPr/>
        </p:nvSpPr>
        <p:spPr>
          <a:xfrm>
            <a:off x="4754880" y="1280160"/>
            <a:ext cx="3931920" cy="27432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March: 4,133 transactions</a:t>
            </a:r>
            <a:endParaRPr lang="en-US" sz="1400" dirty="0"/>
          </a:p>
        </p:txBody>
      </p:sp>
      <p:sp>
        <p:nvSpPr>
          <p:cNvPr id="10" name="Confusion cell"/>
          <p:cNvSpPr/>
          <p:nvPr/>
        </p:nvSpPr>
        <p:spPr>
          <a:xfrm>
            <a:off x="4754880" y="1691640"/>
            <a:ext cx="1920240" cy="1280160"/>
          </a:xfrm>
          <a:prstGeom prst="roundRect">
            <a:avLst>
              <a:gd name="adj" fmla="val 4286"/>
            </a:avLst>
          </a:prstGeom>
          <a:solidFill>
            <a:srgbClr val="EEF3F8"/>
          </a:solidFill>
          <a:ln/>
        </p:spPr>
      </p:sp>
      <p:sp>
        <p:nvSpPr>
          <p:cNvPr id="11" name="Text 9"/>
          <p:cNvSpPr txBox="1"/>
          <p:nvPr/>
        </p:nvSpPr>
        <p:spPr>
          <a:xfrm>
            <a:off x="4754880" y="1828800"/>
            <a:ext cx="1920240" cy="594360"/>
          </a:xfrm>
          <a:prstGeom prst="rect">
            <a:avLst/>
          </a:prstGeom>
          <a:noFill/>
          <a:ln/>
        </p:spPr>
        <p:txBody>
          <a:bodyPr wrap="square" lIns="0" tIns="0" rIns="0" bIns="0" rtlCol="0" anchor="ctr"/>
          <a:lstStyle/>
          <a:p>
            <a:pPr algn="ctr" indent="0" marL="0">
              <a:buNone/>
            </a:pPr>
            <a:r>
              <a:rPr lang="en-US" sz="3000" b="1" dirty="0">
                <a:solidFill>
                  <a:srgbClr val="0B1F3A"/>
                </a:solidFill>
                <a:latin typeface="Cambria" pitchFamily="34" charset="0"/>
                <a:ea typeface="Cambria" pitchFamily="34" charset="-122"/>
                <a:cs typeface="Cambria" pitchFamily="34" charset="-120"/>
              </a:rPr>
              <a:t>2,561</a:t>
            </a:r>
            <a:endParaRPr lang="en-US" sz="3000" dirty="0"/>
          </a:p>
        </p:txBody>
      </p:sp>
      <p:sp>
        <p:nvSpPr>
          <p:cNvPr id="12" name="Text 10"/>
          <p:cNvSpPr txBox="1"/>
          <p:nvPr/>
        </p:nvSpPr>
        <p:spPr>
          <a:xfrm>
            <a:off x="4846320" y="2468880"/>
            <a:ext cx="1737360" cy="365760"/>
          </a:xfrm>
          <a:prstGeom prst="rect">
            <a:avLst/>
          </a:prstGeom>
          <a:noFill/>
          <a:ln/>
        </p:spPr>
        <p:txBody>
          <a:bodyPr wrap="square" lIns="0" tIns="0" rIns="0" bIns="0" rtlCol="0" anchor="t"/>
          <a:lstStyle/>
          <a:p>
            <a:pPr algn="ctr" indent="0" marL="0">
              <a:buNone/>
            </a:pPr>
            <a:r>
              <a:rPr lang="en-US" sz="1350" dirty="0">
                <a:solidFill>
                  <a:srgbClr val="0B1F3A"/>
                </a:solidFill>
                <a:latin typeface="Calibri" pitchFamily="34" charset="0"/>
                <a:ea typeface="Calibri" pitchFamily="34" charset="-122"/>
                <a:cs typeface="Calibri" pitchFamily="34" charset="-120"/>
              </a:rPr>
              <a:t>Correctly left alone</a:t>
            </a:r>
            <a:endParaRPr lang="en-US" sz="1350" dirty="0"/>
          </a:p>
        </p:txBody>
      </p:sp>
      <p:sp>
        <p:nvSpPr>
          <p:cNvPr id="13" name="Confusion cell"/>
          <p:cNvSpPr/>
          <p:nvPr/>
        </p:nvSpPr>
        <p:spPr>
          <a:xfrm>
            <a:off x="6766560" y="1691640"/>
            <a:ext cx="1920240" cy="1280160"/>
          </a:xfrm>
          <a:prstGeom prst="roundRect">
            <a:avLst>
              <a:gd name="adj" fmla="val 4286"/>
            </a:avLst>
          </a:prstGeom>
          <a:solidFill>
            <a:srgbClr val="F2A541"/>
          </a:solidFill>
          <a:ln/>
        </p:spPr>
      </p:sp>
      <p:sp>
        <p:nvSpPr>
          <p:cNvPr id="14" name="Text 12"/>
          <p:cNvSpPr txBox="1"/>
          <p:nvPr/>
        </p:nvSpPr>
        <p:spPr>
          <a:xfrm>
            <a:off x="6766560" y="1828800"/>
            <a:ext cx="1920240" cy="594360"/>
          </a:xfrm>
          <a:prstGeom prst="rect">
            <a:avLst/>
          </a:prstGeom>
          <a:noFill/>
          <a:ln/>
        </p:spPr>
        <p:txBody>
          <a:bodyPr wrap="square" lIns="0" tIns="0" rIns="0" bIns="0" rtlCol="0" anchor="ctr"/>
          <a:lstStyle/>
          <a:p>
            <a:pPr algn="ctr" indent="0" marL="0">
              <a:buNone/>
            </a:pPr>
            <a:r>
              <a:rPr lang="en-US" sz="3000" b="1" dirty="0">
                <a:solidFill>
                  <a:srgbClr val="0B1F3A"/>
                </a:solidFill>
                <a:latin typeface="Cambria" pitchFamily="34" charset="0"/>
                <a:ea typeface="Cambria" pitchFamily="34" charset="-122"/>
                <a:cs typeface="Cambria" pitchFamily="34" charset="-120"/>
              </a:rPr>
              <a:t>743</a:t>
            </a:r>
            <a:endParaRPr lang="en-US" sz="3000" dirty="0"/>
          </a:p>
        </p:txBody>
      </p:sp>
      <p:sp>
        <p:nvSpPr>
          <p:cNvPr id="15" name="Text 13"/>
          <p:cNvSpPr txBox="1"/>
          <p:nvPr/>
        </p:nvSpPr>
        <p:spPr>
          <a:xfrm>
            <a:off x="6858000" y="2468880"/>
            <a:ext cx="1737360" cy="365760"/>
          </a:xfrm>
          <a:prstGeom prst="rect">
            <a:avLst/>
          </a:prstGeom>
          <a:noFill/>
          <a:ln/>
        </p:spPr>
        <p:txBody>
          <a:bodyPr wrap="square" lIns="0" tIns="0" rIns="0" bIns="0" rtlCol="0" anchor="t"/>
          <a:lstStyle/>
          <a:p>
            <a:pPr algn="ctr" indent="0" marL="0">
              <a:buNone/>
            </a:pPr>
            <a:r>
              <a:rPr lang="en-US" sz="1350" dirty="0">
                <a:solidFill>
                  <a:srgbClr val="0B1F3A"/>
                </a:solidFill>
                <a:latin typeface="Calibri" pitchFamily="34" charset="0"/>
                <a:ea typeface="Calibri" pitchFamily="34" charset="-122"/>
                <a:cs typeface="Calibri" pitchFamily="34" charset="-120"/>
              </a:rPr>
              <a:t>Flagged unnecessarily</a:t>
            </a:r>
            <a:endParaRPr lang="en-US" sz="1350" dirty="0"/>
          </a:p>
        </p:txBody>
      </p:sp>
      <p:sp>
        <p:nvSpPr>
          <p:cNvPr id="16" name="Confusion cell"/>
          <p:cNvSpPr/>
          <p:nvPr/>
        </p:nvSpPr>
        <p:spPr>
          <a:xfrm>
            <a:off x="4754880" y="3063240"/>
            <a:ext cx="1920240" cy="1280160"/>
          </a:xfrm>
          <a:prstGeom prst="roundRect">
            <a:avLst>
              <a:gd name="adj" fmla="val 4286"/>
            </a:avLst>
          </a:prstGeom>
          <a:solidFill>
            <a:srgbClr val="C0283F"/>
          </a:solidFill>
          <a:ln/>
        </p:spPr>
      </p:sp>
      <p:sp>
        <p:nvSpPr>
          <p:cNvPr id="17" name="Text 15"/>
          <p:cNvSpPr txBox="1"/>
          <p:nvPr/>
        </p:nvSpPr>
        <p:spPr>
          <a:xfrm>
            <a:off x="4754880" y="3200400"/>
            <a:ext cx="1920240" cy="5943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459</a:t>
            </a:r>
            <a:endParaRPr lang="en-US" sz="3000" dirty="0"/>
          </a:p>
        </p:txBody>
      </p:sp>
      <p:sp>
        <p:nvSpPr>
          <p:cNvPr id="18" name="Text 16"/>
          <p:cNvSpPr txBox="1"/>
          <p:nvPr/>
        </p:nvSpPr>
        <p:spPr>
          <a:xfrm>
            <a:off x="4846320" y="3840480"/>
            <a:ext cx="1737360" cy="365760"/>
          </a:xfrm>
          <a:prstGeom prst="rect">
            <a:avLst/>
          </a:prstGeom>
          <a:noFill/>
          <a:ln/>
        </p:spPr>
        <p:txBody>
          <a:bodyPr wrap="square" lIns="0" tIns="0" rIns="0" bIns="0" rtlCol="0" anchor="t"/>
          <a:lstStyle/>
          <a:p>
            <a:pPr algn="ctr" indent="0" marL="0">
              <a:buNone/>
            </a:pPr>
            <a:r>
              <a:rPr lang="en-US" sz="1350" dirty="0">
                <a:solidFill>
                  <a:srgbClr val="FFFFFF"/>
                </a:solidFill>
                <a:latin typeface="Calibri" pitchFamily="34" charset="0"/>
                <a:ea typeface="Calibri" pitchFamily="34" charset="-122"/>
                <a:cs typeface="Calibri" pitchFamily="34" charset="-120"/>
              </a:rPr>
              <a:t>Review cases missed</a:t>
            </a:r>
            <a:endParaRPr lang="en-US" sz="1350" dirty="0"/>
          </a:p>
        </p:txBody>
      </p:sp>
      <p:sp>
        <p:nvSpPr>
          <p:cNvPr id="19" name="Confusion cell"/>
          <p:cNvSpPr/>
          <p:nvPr/>
        </p:nvSpPr>
        <p:spPr>
          <a:xfrm>
            <a:off x="6766560" y="3063240"/>
            <a:ext cx="1920240" cy="1280160"/>
          </a:xfrm>
          <a:prstGeom prst="roundRect">
            <a:avLst>
              <a:gd name="adj" fmla="val 4286"/>
            </a:avLst>
          </a:prstGeom>
          <a:solidFill>
            <a:srgbClr val="0B7A7D"/>
          </a:solidFill>
          <a:ln/>
        </p:spPr>
      </p:sp>
      <p:sp>
        <p:nvSpPr>
          <p:cNvPr id="20" name="Text 18"/>
          <p:cNvSpPr txBox="1"/>
          <p:nvPr/>
        </p:nvSpPr>
        <p:spPr>
          <a:xfrm>
            <a:off x="6766560" y="3200400"/>
            <a:ext cx="1920240" cy="5943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370</a:t>
            </a:r>
            <a:endParaRPr lang="en-US" sz="3000" dirty="0"/>
          </a:p>
        </p:txBody>
      </p:sp>
      <p:sp>
        <p:nvSpPr>
          <p:cNvPr id="21" name="Text 19"/>
          <p:cNvSpPr txBox="1"/>
          <p:nvPr/>
        </p:nvSpPr>
        <p:spPr>
          <a:xfrm>
            <a:off x="6858000" y="3840480"/>
            <a:ext cx="1737360" cy="365760"/>
          </a:xfrm>
          <a:prstGeom prst="rect">
            <a:avLst/>
          </a:prstGeom>
          <a:noFill/>
          <a:ln/>
        </p:spPr>
        <p:txBody>
          <a:bodyPr wrap="square" lIns="0" tIns="0" rIns="0" bIns="0" rtlCol="0" anchor="t"/>
          <a:lstStyle/>
          <a:p>
            <a:pPr algn="ctr" indent="0" marL="0">
              <a:buNone/>
            </a:pPr>
            <a:r>
              <a:rPr lang="en-US" sz="1350" dirty="0">
                <a:solidFill>
                  <a:srgbClr val="FFFFFF"/>
                </a:solidFill>
                <a:latin typeface="Calibri" pitchFamily="34" charset="0"/>
                <a:ea typeface="Calibri" pitchFamily="34" charset="-122"/>
                <a:cs typeface="Calibri" pitchFamily="34" charset="-120"/>
              </a:rPr>
              <a:t>Review cases caught</a:t>
            </a:r>
            <a:endParaRPr lang="en-US" sz="13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600" b="1" dirty="0">
                <a:solidFill>
                  <a:schemeClr val="tx1"/>
                </a:solidFill>
              </a:rPr>
              <a:t>Testing: 42 of 42 scenarios passed</a:t>
            </a:r>
            <a:endParaRPr lang="en-US" sz="2600" dirty="0"/>
          </a:p>
        </p:txBody>
      </p:sp>
      <p:sp>
        <p:nvSpPr>
          <p:cNvPr id="3" name="Card"/>
          <p:cNvSpPr/>
          <p:nvPr/>
        </p:nvSpPr>
        <p:spPr>
          <a:xfrm>
            <a:off x="457200" y="1280160"/>
            <a:ext cx="3291840" cy="1234440"/>
          </a:xfrm>
          <a:prstGeom prst="roundRect">
            <a:avLst>
              <a:gd name="adj" fmla="val 5926"/>
            </a:avLst>
          </a:prstGeom>
          <a:solidFill>
            <a:srgbClr val="0B1F3A"/>
          </a:solidFill>
          <a:ln/>
          <a:effectLst>
            <a:outerShdw sx="100000" sy="100000" kx="0" ky="0" algn="bl" rotWithShape="0" blurRad="101600" dist="25400" dir="5400000">
              <a:srgbClr val="000000">
                <a:alpha val="12000"/>
              </a:srgbClr>
            </a:outerShdw>
          </a:effectLst>
        </p:spPr>
      </p:sp>
      <p:sp>
        <p:nvSpPr>
          <p:cNvPr id="4" name="Text 2"/>
          <p:cNvSpPr txBox="1"/>
          <p:nvPr/>
        </p:nvSpPr>
        <p:spPr>
          <a:xfrm>
            <a:off x="457200" y="1371600"/>
            <a:ext cx="3291840" cy="685800"/>
          </a:xfrm>
          <a:prstGeom prst="rect">
            <a:avLst/>
          </a:prstGeom>
          <a:noFill/>
          <a:ln/>
        </p:spPr>
        <p:txBody>
          <a:bodyPr wrap="square" lIns="0" tIns="0" rIns="0" bIns="0" rtlCol="0" anchor="ctr"/>
          <a:lstStyle/>
          <a:p>
            <a:pPr algn="ctr" indent="0" marL="0">
              <a:buNone/>
            </a:pPr>
            <a:r>
              <a:rPr lang="en-US" sz="4400" b="1" dirty="0">
                <a:solidFill>
                  <a:schemeClr val="accent2"/>
                </a:solidFill>
                <a:latin typeface="Cambria" pitchFamily="34" charset="0"/>
                <a:ea typeface="Cambria" pitchFamily="34" charset="-122"/>
                <a:cs typeface="Cambria" pitchFamily="34" charset="-120"/>
              </a:rPr>
              <a:t>42 / 42</a:t>
            </a:r>
            <a:endParaRPr lang="en-US" sz="4400" dirty="0"/>
          </a:p>
        </p:txBody>
      </p:sp>
      <p:sp>
        <p:nvSpPr>
          <p:cNvPr id="5" name="Text 3"/>
          <p:cNvSpPr txBox="1"/>
          <p:nvPr/>
        </p:nvSpPr>
        <p:spPr>
          <a:xfrm>
            <a:off x="548640" y="2057400"/>
            <a:ext cx="3108960" cy="320040"/>
          </a:xfrm>
          <a:prstGeom prst="rect">
            <a:avLst/>
          </a:prstGeom>
          <a:noFill/>
          <a:ln/>
        </p:spPr>
        <p:txBody>
          <a:bodyPr wrap="square" lIns="0" tIns="0" rIns="0" bIns="0" rtlCol="0" anchor="ctr"/>
          <a:lstStyle/>
          <a:p>
            <a:pPr algn="ctr" indent="0" marL="0">
              <a:buNone/>
            </a:pPr>
            <a:r>
              <a:rPr lang="en-US" sz="1350" dirty="0">
                <a:solidFill>
                  <a:schemeClr val="bg1"/>
                </a:solidFill>
                <a:latin typeface="Calibri" pitchFamily="34" charset="0"/>
                <a:ea typeface="Calibri" pitchFamily="34" charset="-122"/>
                <a:cs typeface="Calibri" pitchFamily="34" charset="-120"/>
              </a:rPr>
              <a:t>Each result captured from a real run</a:t>
            </a:r>
            <a:endParaRPr lang="en-US" sz="1350" dirty="0"/>
          </a:p>
        </p:txBody>
      </p:sp>
      <p:sp>
        <p:nvSpPr>
          <p:cNvPr id="6" name="Card"/>
          <p:cNvSpPr/>
          <p:nvPr/>
        </p:nvSpPr>
        <p:spPr>
          <a:xfrm>
            <a:off x="457200" y="2697480"/>
            <a:ext cx="3291840" cy="1783080"/>
          </a:xfrm>
          <a:prstGeom prst="roundRect">
            <a:avLst>
              <a:gd name="adj" fmla="val 4103"/>
            </a:avLst>
          </a:prstGeom>
          <a:solidFill>
            <a:schemeClr val="bg2"/>
          </a:solidFill>
          <a:ln/>
          <a:effectLst>
            <a:outerShdw sx="100000" sy="100000" kx="0" ky="0" algn="bl" rotWithShape="0" blurRad="101600" dist="25400" dir="5400000">
              <a:srgbClr val="000000">
                <a:alpha val="12000"/>
              </a:srgbClr>
            </a:outerShdw>
          </a:effectLst>
        </p:spPr>
      </p:sp>
      <p:sp>
        <p:nvSpPr>
          <p:cNvPr id="7" name="Text 5"/>
          <p:cNvSpPr txBox="1"/>
          <p:nvPr/>
        </p:nvSpPr>
        <p:spPr>
          <a:xfrm>
            <a:off x="640080" y="2788920"/>
            <a:ext cx="2926080" cy="27432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Issues found and fixed</a:t>
            </a:r>
            <a:endParaRPr lang="en-US" sz="1400" dirty="0"/>
          </a:p>
        </p:txBody>
      </p:sp>
      <p:sp>
        <p:nvSpPr>
          <p:cNvPr id="8" name="Text 6"/>
          <p:cNvSpPr txBox="1"/>
          <p:nvPr/>
        </p:nvSpPr>
        <p:spPr>
          <a:xfrm>
            <a:off x="640080" y="3108960"/>
            <a:ext cx="297180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Queue of 59% was unusable: added a capacity cap.</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One test checked the wrong thing: corrected.</a:t>
            </a:r>
            <a:endParaRPr lang="en-US" sz="1400" dirty="0"/>
          </a:p>
        </p:txBody>
      </p:sp>
      <p:graphicFrame>
        <p:nvGraphicFramePr>
          <p:cNvPr id="9" name="Chart 0" descr=""/>
          <p:cNvGraphicFramePr/>
          <p:nvPr/>
        </p:nvGraphicFramePr>
        <p:xfrm>
          <a:off x="4023360" y="1188720"/>
          <a:ext cx="4663440" cy="33832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600" b="1" dirty="0">
                <a:solidFill>
                  <a:schemeClr val="tx1"/>
                </a:solidFill>
              </a:rPr>
              <a:t>Scenario results: sensible ranking, safe failure</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577840" cy="914400"/>
        </p:xfrm>
        <a:graphic>
          <a:graphicData uri="http://schemas.openxmlformats.org/drawingml/2006/table">
            <a:tbl>
              <a:tblPr/>
              <a:tblGrid>
                <a:gridCol w="2926080"/>
                <a:gridCol w="731520"/>
                <a:gridCol w="914400"/>
                <a:gridCol w="1005840"/>
              </a:tblGrid>
              <a:tr h="43891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Scenario</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B1F3A"/>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Score</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B1F3A"/>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Flag</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B1F3A"/>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Band</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B1F3A"/>
                    </a:solidFill>
                  </a:tcPr>
                </a:tc>
              </a:tr>
              <a:tr h="438912">
                <a:tc>
                  <a:txBody>
                    <a:bodyPr/>
                    <a:lstStyle/>
                    <a:p>
                      <a:pPr indent="0" marL="0">
                        <a:buNone/>
                      </a:pPr>
                      <a:r>
                        <a:rPr lang="en-US" sz="1400" dirty="0">
                          <a:solidFill>
                            <a:srgbClr val="0B1F3A"/>
                          </a:solidFill>
                          <a:latin typeface="Calibri" pitchFamily="34" charset="0"/>
                          <a:ea typeface="Calibri" pitchFamily="34" charset="-122"/>
                          <a:cs typeface="Calibri" pitchFamily="34" charset="-120"/>
                        </a:rPr>
                        <a:t>Everyday card purchase (day)</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0.31</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400" dirty="0">
                          <a:solidFill>
                            <a:srgbClr val="0B1F3A"/>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400" b="1" dirty="0">
                          <a:solidFill>
                            <a:srgbClr val="1B7A4B"/>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r>
              <a:tr h="438912">
                <a:tc>
                  <a:txBody>
                    <a:bodyPr/>
                    <a:lstStyle/>
                    <a:p>
                      <a:pPr indent="0" marL="0">
                        <a:buNone/>
                      </a:pPr>
                      <a:r>
                        <a:rPr lang="en-US" sz="1400" dirty="0">
                          <a:solidFill>
                            <a:srgbClr val="0B1F3A"/>
                          </a:solidFill>
                          <a:latin typeface="Calibri" pitchFamily="34" charset="0"/>
                          <a:ea typeface="Calibri" pitchFamily="34" charset="-122"/>
                          <a:cs typeface="Calibri" pitchFamily="34" charset="-120"/>
                        </a:rPr>
                        <a:t>Small bill payment (day)</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0.30</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dirty="0">
                          <a:solidFill>
                            <a:srgbClr val="0B1F3A"/>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b="1" dirty="0">
                          <a:solidFill>
                            <a:srgbClr val="1B7A4B"/>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0B1F3A"/>
                          </a:solidFill>
                          <a:latin typeface="Calibri" pitchFamily="34" charset="0"/>
                          <a:ea typeface="Calibri" pitchFamily="34" charset="-122"/>
                          <a:cs typeface="Calibri" pitchFamily="34" charset="-120"/>
                        </a:rPr>
                        <a:t>Night-time transfer</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0.69</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400" dirty="0">
                          <a:solidFill>
                            <a:srgbClr val="0B1F3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400" b="1" dirty="0">
                          <a:solidFill>
                            <a:srgbClr val="C0283F"/>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r>
              <a:tr h="438912">
                <a:tc>
                  <a:txBody>
                    <a:bodyPr/>
                    <a:lstStyle/>
                    <a:p>
                      <a:pPr indent="0" marL="0">
                        <a:buNone/>
                      </a:pPr>
                      <a:r>
                        <a:rPr lang="en-US" sz="1400" dirty="0">
                          <a:solidFill>
                            <a:srgbClr val="0B1F3A"/>
                          </a:solidFill>
                          <a:latin typeface="Calibri" pitchFamily="34" charset="0"/>
                          <a:ea typeface="Calibri" pitchFamily="34" charset="-122"/>
                          <a:cs typeface="Calibri" pitchFamily="34" charset="-120"/>
                        </a:rPr>
                        <a:t>Large ATM cash withdrawal</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0.74</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dirty="0">
                          <a:solidFill>
                            <a:srgbClr val="0B1F3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b="1" dirty="0">
                          <a:solidFill>
                            <a:srgbClr val="C0283F"/>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0B1F3A"/>
                          </a:solidFill>
                          <a:latin typeface="Calibri" pitchFamily="34" charset="0"/>
                          <a:ea typeface="Calibri" pitchFamily="34" charset="-122"/>
                          <a:cs typeface="Calibri" pitchFamily="34" charset="-120"/>
                        </a:rPr>
                        <a:t>Large intl. transfer at 2am</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0.84</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400" dirty="0">
                          <a:solidFill>
                            <a:srgbClr val="0B1F3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400" b="1" dirty="0">
                          <a:solidFill>
                            <a:srgbClr val="C0283F"/>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r>
              <a:tr h="438912">
                <a:tc>
                  <a:txBody>
                    <a:bodyPr/>
                    <a:lstStyle/>
                    <a:p>
                      <a:pPr indent="0" marL="0">
                        <a:buNone/>
                      </a:pPr>
                      <a:r>
                        <a:rPr lang="en-US" sz="1400" dirty="0">
                          <a:solidFill>
                            <a:srgbClr val="0B1F3A"/>
                          </a:solidFill>
                          <a:latin typeface="Calibri" pitchFamily="34" charset="0"/>
                          <a:ea typeface="Calibri" pitchFamily="34" charset="-122"/>
                          <a:cs typeface="Calibri" pitchFamily="34" charset="-120"/>
                        </a:rPr>
                        <a:t>Amount typed as 'abc'</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n/a</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b="1" dirty="0">
                          <a:solidFill>
                            <a:srgbClr val="C0283F"/>
                          </a:solidFill>
                          <a:latin typeface="Calibri" pitchFamily="34" charset="0"/>
                          <a:ea typeface="Calibri" pitchFamily="34" charset="-122"/>
                          <a:cs typeface="Calibri" pitchFamily="34" charset="-120"/>
                        </a:rPr>
                        <a:t>Rejected</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r>
            </a:tbl>
          </a:graphicData>
        </a:graphic>
      </p:graphicFrame>
      <p:sp>
        <p:nvSpPr>
          <p:cNvPr id="4" name="Card"/>
          <p:cNvSpPr/>
          <p:nvPr/>
        </p:nvSpPr>
        <p:spPr>
          <a:xfrm>
            <a:off x="6309360" y="1280160"/>
            <a:ext cx="2377440" cy="3108960"/>
          </a:xfrm>
          <a:prstGeom prst="roundRect">
            <a:avLst>
              <a:gd name="adj" fmla="val 3077"/>
            </a:avLst>
          </a:prstGeom>
          <a:solidFill>
            <a:srgbClr val="EEF3F8"/>
          </a:solidFill>
          <a:ln/>
          <a:effectLst>
            <a:outerShdw sx="100000" sy="100000" kx="0" ky="0" algn="bl" rotWithShape="0" blurRad="101600" dist="25400" dir="5400000">
              <a:srgbClr val="000000">
                <a:alpha val="12000"/>
              </a:srgbClr>
            </a:outerShdw>
          </a:effectLst>
        </p:spPr>
      </p:sp>
      <p:sp>
        <p:nvSpPr>
          <p:cNvPr id="5" name="Icon circle"/>
          <p:cNvSpPr/>
          <p:nvPr/>
        </p:nvSpPr>
        <p:spPr>
          <a:xfrm>
            <a:off x="6492240" y="1463040"/>
            <a:ext cx="457200" cy="457200"/>
          </a:xfrm>
          <a:prstGeom prst="ellipse">
            <a:avLst/>
          </a:prstGeom>
          <a:solidFill>
            <a:srgbClr val="0B7A7D"/>
          </a:solidFill>
          <a:ln/>
        </p:spPr>
      </p:sp>
      <p:pic>
        <p:nvPicPr>
          <p:cNvPr id="6" name="Image 0" descr="FaCheckCircle">    </p:cNvPr>
          <p:cNvPicPr>
            <a:picLocks noChangeAspect="1"/>
          </p:cNvPicPr>
          <p:nvPr/>
        </p:nvPicPr>
        <p:blipFill>
          <a:blip r:embed="rId1"/>
          <a:stretch>
            <a:fillRect/>
          </a:stretch>
        </p:blipFill>
        <p:spPr>
          <a:xfrm>
            <a:off x="6606540" y="1577340"/>
            <a:ext cx="228600" cy="228600"/>
          </a:xfrm>
          <a:prstGeom prst="rect">
            <a:avLst/>
          </a:prstGeom>
        </p:spPr>
      </p:pic>
      <p:sp>
        <p:nvSpPr>
          <p:cNvPr id="7" name="Text 3"/>
          <p:cNvSpPr txBox="1"/>
          <p:nvPr/>
        </p:nvSpPr>
        <p:spPr>
          <a:xfrm>
            <a:off x="6492240" y="2057400"/>
            <a:ext cx="2011680" cy="27432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How to read this</a:t>
            </a:r>
            <a:endParaRPr lang="en-US" sz="1500" dirty="0"/>
          </a:p>
        </p:txBody>
      </p:sp>
      <p:sp>
        <p:nvSpPr>
          <p:cNvPr id="8" name="Text 4"/>
          <p:cNvSpPr txBox="1"/>
          <p:nvPr/>
        </p:nvSpPr>
        <p:spPr>
          <a:xfrm>
            <a:off x="6492240" y="2423160"/>
            <a:ext cx="2011680" cy="1828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Risky profiles score higher than routine ones. Unusable input is rejected with a reason and never guessed.</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600" b="1" dirty="0">
                <a:solidFill>
                  <a:schemeClr val="tx1"/>
                </a:solidFill>
              </a:rPr>
              <a:t>What is delivered, and what is not</a:t>
            </a:r>
            <a:endParaRPr lang="en-US" sz="2600" dirty="0"/>
          </a:p>
        </p:txBody>
      </p:sp>
      <p:sp>
        <p:nvSpPr>
          <p:cNvPr id="3" name="Card"/>
          <p:cNvSpPr/>
          <p:nvPr/>
        </p:nvSpPr>
        <p:spPr>
          <a:xfrm>
            <a:off x="457200" y="1280160"/>
            <a:ext cx="2560320" cy="1143000"/>
          </a:xfrm>
          <a:prstGeom prst="roundRect">
            <a:avLst>
              <a:gd name="adj" fmla="val 6400"/>
            </a:avLst>
          </a:prstGeom>
          <a:solidFill>
            <a:schemeClr val="bg2"/>
          </a:solidFill>
          <a:ln/>
          <a:effectLst>
            <a:outerShdw sx="100000" sy="100000" kx="0" ky="0" algn="bl" rotWithShape="0" blurRad="101600" dist="25400" dir="5400000">
              <a:srgbClr val="000000">
                <a:alpha val="12000"/>
              </a:srgbClr>
            </a:outerShdw>
          </a:effectLst>
        </p:spPr>
      </p:sp>
      <p:sp>
        <p:nvSpPr>
          <p:cNvPr id="4" name="Icon circle"/>
          <p:cNvSpPr/>
          <p:nvPr/>
        </p:nvSpPr>
        <p:spPr>
          <a:xfrm>
            <a:off x="640080" y="1554480"/>
            <a:ext cx="502920" cy="502920"/>
          </a:xfrm>
          <a:prstGeom prst="ellipse">
            <a:avLst/>
          </a:prstGeom>
          <a:solidFill>
            <a:srgbClr val="0B7A7D"/>
          </a:solidFill>
          <a:ln/>
        </p:spPr>
      </p:sp>
      <p:pic>
        <p:nvPicPr>
          <p:cNvPr id="5" name="Image 0" descr="FaTerminal">    </p:cNvPr>
          <p:cNvPicPr>
            <a:picLocks noChangeAspect="1"/>
          </p:cNvPicPr>
          <p:nvPr/>
        </p:nvPicPr>
        <p:blipFill>
          <a:blip r:embed="rId1"/>
          <a:stretch>
            <a:fillRect/>
          </a:stretch>
        </p:blipFill>
        <p:spPr>
          <a:xfrm>
            <a:off x="765810" y="1680210"/>
            <a:ext cx="251460" cy="251460"/>
          </a:xfrm>
          <a:prstGeom prst="rect">
            <a:avLst/>
          </a:prstGeom>
        </p:spPr>
      </p:pic>
      <p:sp>
        <p:nvSpPr>
          <p:cNvPr id="6" name="Text 3"/>
          <p:cNvSpPr txBox="1"/>
          <p:nvPr/>
        </p:nvSpPr>
        <p:spPr>
          <a:xfrm>
            <a:off x="1280160" y="1463040"/>
            <a:ext cx="1645920" cy="292608"/>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Command line</a:t>
            </a:r>
            <a:endParaRPr lang="en-US" sz="1400" dirty="0"/>
          </a:p>
        </p:txBody>
      </p:sp>
      <p:sp>
        <p:nvSpPr>
          <p:cNvPr id="7" name="Text 4"/>
          <p:cNvSpPr txBox="1"/>
          <p:nvPr/>
        </p:nvSpPr>
        <p:spPr>
          <a:xfrm>
            <a:off x="1280160" y="1783080"/>
            <a:ext cx="1645920" cy="54864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Score a CSV, Excel or JSON file</a:t>
            </a:r>
            <a:endParaRPr lang="en-US" sz="1350" dirty="0"/>
          </a:p>
        </p:txBody>
      </p:sp>
      <p:sp>
        <p:nvSpPr>
          <p:cNvPr id="8" name="Card"/>
          <p:cNvSpPr/>
          <p:nvPr/>
        </p:nvSpPr>
        <p:spPr>
          <a:xfrm>
            <a:off x="3291840" y="1280160"/>
            <a:ext cx="2560320" cy="1143000"/>
          </a:xfrm>
          <a:prstGeom prst="roundRect">
            <a:avLst>
              <a:gd name="adj" fmla="val 6400"/>
            </a:avLst>
          </a:prstGeom>
          <a:solidFill>
            <a:schemeClr val="bg2"/>
          </a:solidFill>
          <a:ln/>
          <a:effectLst>
            <a:outerShdw sx="100000" sy="100000" kx="0" ky="0" algn="bl" rotWithShape="0" blurRad="101600" dist="25400" dir="5400000">
              <a:srgbClr val="000000">
                <a:alpha val="12000"/>
              </a:srgbClr>
            </a:outerShdw>
          </a:effectLst>
        </p:spPr>
      </p:sp>
      <p:sp>
        <p:nvSpPr>
          <p:cNvPr id="9" name="Icon circle"/>
          <p:cNvSpPr/>
          <p:nvPr/>
        </p:nvSpPr>
        <p:spPr>
          <a:xfrm>
            <a:off x="3474720" y="1554480"/>
            <a:ext cx="502920" cy="502920"/>
          </a:xfrm>
          <a:prstGeom prst="ellipse">
            <a:avLst/>
          </a:prstGeom>
          <a:solidFill>
            <a:srgbClr val="0B7A7D"/>
          </a:solidFill>
          <a:ln/>
        </p:spPr>
      </p:sp>
      <p:pic>
        <p:nvPicPr>
          <p:cNvPr id="10" name="Image 1" descr="FaServer">    </p:cNvPr>
          <p:cNvPicPr>
            <a:picLocks noChangeAspect="1"/>
          </p:cNvPicPr>
          <p:nvPr/>
        </p:nvPicPr>
        <p:blipFill>
          <a:blip r:embed="rId2"/>
          <a:stretch>
            <a:fillRect/>
          </a:stretch>
        </p:blipFill>
        <p:spPr>
          <a:xfrm>
            <a:off x="3600450" y="1680210"/>
            <a:ext cx="251460" cy="251460"/>
          </a:xfrm>
          <a:prstGeom prst="rect">
            <a:avLst/>
          </a:prstGeom>
        </p:spPr>
      </p:pic>
      <p:sp>
        <p:nvSpPr>
          <p:cNvPr id="11" name="Text 7"/>
          <p:cNvSpPr txBox="1"/>
          <p:nvPr/>
        </p:nvSpPr>
        <p:spPr>
          <a:xfrm>
            <a:off x="4114800" y="1463040"/>
            <a:ext cx="1645920" cy="292608"/>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REST API</a:t>
            </a:r>
            <a:endParaRPr lang="en-US" sz="1400" dirty="0"/>
          </a:p>
        </p:txBody>
      </p:sp>
      <p:sp>
        <p:nvSpPr>
          <p:cNvPr id="12" name="Text 8"/>
          <p:cNvSpPr txBox="1"/>
          <p:nvPr/>
        </p:nvSpPr>
        <p:spPr>
          <a:xfrm>
            <a:off x="4114800" y="1783080"/>
            <a:ext cx="1645920" cy="54864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Health, single, batch, typed errors</a:t>
            </a:r>
            <a:endParaRPr lang="en-US" sz="1350" dirty="0"/>
          </a:p>
        </p:txBody>
      </p:sp>
      <p:sp>
        <p:nvSpPr>
          <p:cNvPr id="13" name="Card"/>
          <p:cNvSpPr/>
          <p:nvPr/>
        </p:nvSpPr>
        <p:spPr>
          <a:xfrm>
            <a:off x="6126480" y="1280160"/>
            <a:ext cx="2560320" cy="1143000"/>
          </a:xfrm>
          <a:prstGeom prst="roundRect">
            <a:avLst>
              <a:gd name="adj" fmla="val 6400"/>
            </a:avLst>
          </a:prstGeom>
          <a:solidFill>
            <a:schemeClr val="bg2"/>
          </a:solidFill>
          <a:ln/>
          <a:effectLst>
            <a:outerShdw sx="100000" sy="100000" kx="0" ky="0" algn="bl" rotWithShape="0" blurRad="101600" dist="25400" dir="5400000">
              <a:srgbClr val="000000">
                <a:alpha val="12000"/>
              </a:srgbClr>
            </a:outerShdw>
          </a:effectLst>
        </p:spPr>
      </p:sp>
      <p:sp>
        <p:nvSpPr>
          <p:cNvPr id="14" name="Icon circle"/>
          <p:cNvSpPr/>
          <p:nvPr/>
        </p:nvSpPr>
        <p:spPr>
          <a:xfrm>
            <a:off x="6309360" y="1554480"/>
            <a:ext cx="502920" cy="502920"/>
          </a:xfrm>
          <a:prstGeom prst="ellipse">
            <a:avLst/>
          </a:prstGeom>
          <a:solidFill>
            <a:srgbClr val="0B7A7D"/>
          </a:solidFill>
          <a:ln/>
        </p:spPr>
      </p:sp>
      <p:pic>
        <p:nvPicPr>
          <p:cNvPr id="15" name="Image 2" descr="FaSyncAlt">    </p:cNvPr>
          <p:cNvPicPr>
            <a:picLocks noChangeAspect="1"/>
          </p:cNvPicPr>
          <p:nvPr/>
        </p:nvPicPr>
        <p:blipFill>
          <a:blip r:embed="rId3"/>
          <a:stretch>
            <a:fillRect/>
          </a:stretch>
        </p:blipFill>
        <p:spPr>
          <a:xfrm>
            <a:off x="6435090" y="1680210"/>
            <a:ext cx="251460" cy="251460"/>
          </a:xfrm>
          <a:prstGeom prst="rect">
            <a:avLst/>
          </a:prstGeom>
        </p:spPr>
      </p:pic>
      <p:sp>
        <p:nvSpPr>
          <p:cNvPr id="16" name="Text 11"/>
          <p:cNvSpPr txBox="1"/>
          <p:nvPr/>
        </p:nvSpPr>
        <p:spPr>
          <a:xfrm>
            <a:off x="6949440" y="1463040"/>
            <a:ext cx="1645920" cy="292608"/>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Reproducible</a:t>
            </a:r>
            <a:endParaRPr lang="en-US" sz="1400" dirty="0"/>
          </a:p>
        </p:txBody>
      </p:sp>
      <p:sp>
        <p:nvSpPr>
          <p:cNvPr id="17" name="Text 12"/>
          <p:cNvSpPr txBox="1"/>
          <p:nvPr/>
        </p:nvSpPr>
        <p:spPr>
          <a:xfrm>
            <a:off x="6949440" y="1783080"/>
            <a:ext cx="1645920" cy="54864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Two retrains gave identical results</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2651760"/>
          <a:ext cx="8229600" cy="914400"/>
        </p:xfrm>
        <a:graphic>
          <a:graphicData uri="http://schemas.openxmlformats.org/drawingml/2006/table">
            <a:tbl>
              <a:tblPr/>
              <a:tblGrid>
                <a:gridCol w="4754880"/>
                <a:gridCol w="3474720"/>
              </a:tblGrid>
              <a:tr h="3657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Component</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B1F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B1F3A"/>
                    </a:solidFill>
                  </a:tcPr>
                </a:tc>
              </a:tr>
              <a:tr h="365760">
                <a:tc>
                  <a:txBody>
                    <a:bodyPr/>
                    <a:lstStyle/>
                    <a:p>
                      <a:pPr indent="0" marL="0">
                        <a:buNone/>
                      </a:pPr>
                      <a:r>
                        <a:rPr lang="en-US" sz="1400" dirty="0">
                          <a:solidFill>
                            <a:srgbClr val="0B1F3A"/>
                          </a:solidFill>
                          <a:latin typeface="Calibri" pitchFamily="34" charset="0"/>
                          <a:ea typeface="Calibri" pitchFamily="34" charset="-122"/>
                          <a:cs typeface="Calibri" pitchFamily="34" charset="-120"/>
                        </a:rPr>
                        <a:t>Final workflow, model and tests</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b="1" dirty="0">
                          <a:solidFill>
                            <a:srgbClr val="1B7A4B"/>
                          </a:solidFill>
                          <a:latin typeface="Calibri" pitchFamily="34" charset="0"/>
                          <a:ea typeface="Calibri" pitchFamily="34" charset="-122"/>
                          <a:cs typeface="Calibri" pitchFamily="34" charset="-120"/>
                        </a:rPr>
                        <a:t>Done: 42/42 pass</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r>
              <a:tr h="365760">
                <a:tc>
                  <a:txBody>
                    <a:bodyPr/>
                    <a:lstStyle/>
                    <a:p>
                      <a:pPr indent="0" marL="0">
                        <a:buNone/>
                      </a:pPr>
                      <a:r>
                        <a:rPr lang="en-US" sz="1400" dirty="0">
                          <a:solidFill>
                            <a:srgbClr val="0B1F3A"/>
                          </a:solidFill>
                          <a:latin typeface="Calibri" pitchFamily="34" charset="0"/>
                          <a:ea typeface="Calibri" pitchFamily="34" charset="-122"/>
                          <a:cs typeface="Calibri" pitchFamily="34" charset="-120"/>
                        </a:rPr>
                        <a:t>API and clean-install reproducibility</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400" b="1" dirty="0">
                          <a:solidFill>
                            <a:srgbClr val="1B7A4B"/>
                          </a:solidFill>
                          <a:latin typeface="Calibri" pitchFamily="34" charset="0"/>
                          <a:ea typeface="Calibri" pitchFamily="34" charset="-122"/>
                          <a:cs typeface="Calibri" pitchFamily="34" charset="-120"/>
                        </a:rPr>
                        <a:t>Verified</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r>
              <a:tr h="365760">
                <a:tc>
                  <a:txBody>
                    <a:bodyPr/>
                    <a:lstStyle/>
                    <a:p>
                      <a:pPr indent="0" marL="0">
                        <a:buNone/>
                      </a:pPr>
                      <a:r>
                        <a:rPr lang="en-US" sz="1400" dirty="0">
                          <a:solidFill>
                            <a:srgbClr val="0B1F3A"/>
                          </a:solidFill>
                          <a:latin typeface="Calibri" pitchFamily="34" charset="0"/>
                          <a:ea typeface="Calibri" pitchFamily="34" charset="-122"/>
                          <a:cs typeface="Calibri" pitchFamily="34" charset="-120"/>
                        </a:rPr>
                        <a:t>Data Science team model integration</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b="1" dirty="0">
                          <a:solidFill>
                            <a:srgbClr val="C0283F"/>
                          </a:solidFill>
                          <a:latin typeface="Calibri" pitchFamily="34" charset="0"/>
                          <a:ea typeface="Calibri" pitchFamily="34" charset="-122"/>
                          <a:cs typeface="Calibri" pitchFamily="34" charset="-120"/>
                        </a:rPr>
                        <a:t>Not done: model not available</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r>
              <a:tr h="365760">
                <a:tc>
                  <a:txBody>
                    <a:bodyPr/>
                    <a:lstStyle/>
                    <a:p>
                      <a:pPr indent="0" marL="0">
                        <a:buNone/>
                      </a:pPr>
                      <a:r>
                        <a:rPr lang="en-US" sz="1400" dirty="0">
                          <a:solidFill>
                            <a:srgbClr val="0B1F3A"/>
                          </a:solidFill>
                          <a:latin typeface="Calibri" pitchFamily="34" charset="0"/>
                          <a:ea typeface="Calibri" pitchFamily="34" charset="-122"/>
                          <a:cs typeface="Calibri" pitchFamily="34" charset="-120"/>
                        </a:rPr>
                        <a:t>Docker image and load testing</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indent="0" marL="0">
                        <a:buNone/>
                      </a:pPr>
                      <a:r>
                        <a:rPr lang="en-US" sz="1400" b="1" dirty="0">
                          <a:solidFill>
                            <a:srgbClr val="C0283F"/>
                          </a:solidFill>
                          <a:latin typeface="Calibri" pitchFamily="34" charset="0"/>
                          <a:ea typeface="Calibri" pitchFamily="34" charset="-122"/>
                          <a:cs typeface="Calibri" pitchFamily="34" charset="-120"/>
                        </a:rPr>
                        <a:t>Not done</a:t>
                      </a:r>
                      <a:endParaRPr lang="en-US" sz="1400" dirty="0">
                        <a:latin typeface="Calibri" charset="0"/>
                        <a:ea typeface="Calibri" charset="0"/>
                        <a:cs typeface="Calibri" charset="0"/>
                      </a:endParaRPr>
                    </a:p>
                  </a:txBody>
                  <a:tcPr marL="91440" marR="91440" marT="0" marB="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600" b="1" dirty="0">
                <a:solidFill>
                  <a:schemeClr val="tx1"/>
                </a:solidFill>
              </a:rPr>
              <a:t>Limitations and how we manage them</a:t>
            </a:r>
            <a:endParaRPr lang="en-US" sz="2600" dirty="0"/>
          </a:p>
        </p:txBody>
      </p:sp>
      <p:sp>
        <p:nvSpPr>
          <p:cNvPr id="3" name="Card"/>
          <p:cNvSpPr/>
          <p:nvPr/>
        </p:nvSpPr>
        <p:spPr>
          <a:xfrm>
            <a:off x="457200" y="1280160"/>
            <a:ext cx="2560320" cy="1508760"/>
          </a:xfrm>
          <a:prstGeom prst="roundRect">
            <a:avLst>
              <a:gd name="adj" fmla="val 4848"/>
            </a:avLst>
          </a:prstGeom>
          <a:solidFill>
            <a:schemeClr val="bg2"/>
          </a:solidFill>
          <a:ln/>
          <a:effectLst>
            <a:outerShdw sx="100000" sy="100000" kx="0" ky="0" algn="bl" rotWithShape="0" blurRad="101600" dist="25400" dir="5400000">
              <a:srgbClr val="000000">
                <a:alpha val="12000"/>
              </a:srgbClr>
            </a:outerShdw>
          </a:effectLst>
        </p:spPr>
      </p:sp>
      <p:sp>
        <p:nvSpPr>
          <p:cNvPr id="4" name="Icon circle"/>
          <p:cNvSpPr/>
          <p:nvPr/>
        </p:nvSpPr>
        <p:spPr>
          <a:xfrm>
            <a:off x="594360" y="1417320"/>
            <a:ext cx="347472" cy="347472"/>
          </a:xfrm>
          <a:prstGeom prst="ellipse">
            <a:avLst/>
          </a:prstGeom>
          <a:solidFill>
            <a:srgbClr val="C0283F"/>
          </a:solidFill>
          <a:ln/>
        </p:spPr>
      </p:sp>
      <p:pic>
        <p:nvPicPr>
          <p:cNvPr id="5" name="Image 0" descr="FaFlask">    </p:cNvPr>
          <p:cNvPicPr>
            <a:picLocks noChangeAspect="1"/>
          </p:cNvPicPr>
          <p:nvPr/>
        </p:nvPicPr>
        <p:blipFill>
          <a:blip r:embed="rId1"/>
          <a:stretch>
            <a:fillRect/>
          </a:stretch>
        </p:blipFill>
        <p:spPr>
          <a:xfrm>
            <a:off x="681228" y="1504188"/>
            <a:ext cx="173736" cy="173736"/>
          </a:xfrm>
          <a:prstGeom prst="rect">
            <a:avLst/>
          </a:prstGeom>
        </p:spPr>
      </p:pic>
      <p:sp>
        <p:nvSpPr>
          <p:cNvPr id="6" name="Text 3"/>
          <p:cNvSpPr txBox="1"/>
          <p:nvPr/>
        </p:nvSpPr>
        <p:spPr>
          <a:xfrm>
            <a:off x="1051560" y="1417320"/>
            <a:ext cx="1874520" cy="347472"/>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Synthetic label</a:t>
            </a:r>
            <a:endParaRPr lang="en-US" sz="1400" dirty="0"/>
          </a:p>
        </p:txBody>
      </p:sp>
      <p:sp>
        <p:nvSpPr>
          <p:cNvPr id="7" name="Text 4"/>
          <p:cNvSpPr txBox="1"/>
          <p:nvPr/>
        </p:nvSpPr>
        <p:spPr>
          <a:xfrm>
            <a:off x="594360" y="1874520"/>
            <a:ext cx="2286000" cy="45720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Results show the workflow works, not real fraud detection.</a:t>
            </a:r>
            <a:endParaRPr lang="en-US" sz="1350" dirty="0"/>
          </a:p>
        </p:txBody>
      </p:sp>
      <p:sp>
        <p:nvSpPr>
          <p:cNvPr id="8" name="Text 5"/>
          <p:cNvSpPr txBox="1"/>
          <p:nvPr/>
        </p:nvSpPr>
        <p:spPr>
          <a:xfrm>
            <a:off x="594360" y="2331720"/>
            <a:ext cx="2286000" cy="365760"/>
          </a:xfrm>
          <a:prstGeom prst="rect">
            <a:avLst/>
          </a:prstGeom>
          <a:noFill/>
          <a:ln/>
        </p:spPr>
        <p:txBody>
          <a:bodyPr wrap="square" lIns="0" tIns="0" rIns="0" bIns="0" rtlCol="0" anchor="t"/>
          <a:lstStyle/>
          <a:p>
            <a:pPr indent="0" marL="0">
              <a:buNone/>
            </a:pPr>
            <a:r>
              <a:rPr lang="en-US" sz="1350" b="1" dirty="0">
                <a:solidFill>
                  <a:srgbClr val="0B7A7D"/>
                </a:solidFill>
                <a:latin typeface="Calibri" pitchFamily="34" charset="0"/>
                <a:ea typeface="Calibri" pitchFamily="34" charset="-122"/>
                <a:cs typeface="Calibri" pitchFamily="34" charset="-120"/>
              </a:rPr>
              <a:t>Mitigation: </a:t>
            </a:r>
            <a:pPr indent="0" marL="0">
              <a:buNone/>
            </a:pPr>
            <a:r>
              <a:rPr lang="en-US" sz="1350" dirty="0">
                <a:solidFill>
                  <a:srgbClr val="0B7A7D"/>
                </a:solidFill>
                <a:latin typeface="Calibri" pitchFamily="34" charset="0"/>
                <a:ea typeface="Calibri" pitchFamily="34" charset="-122"/>
                <a:cs typeface="Calibri" pitchFamily="34" charset="-120"/>
              </a:rPr>
              <a:t>Re-validate on real data.</a:t>
            </a:r>
            <a:endParaRPr lang="en-US" sz="1350" dirty="0"/>
          </a:p>
        </p:txBody>
      </p:sp>
      <p:sp>
        <p:nvSpPr>
          <p:cNvPr id="9" name="Card"/>
          <p:cNvSpPr/>
          <p:nvPr/>
        </p:nvSpPr>
        <p:spPr>
          <a:xfrm>
            <a:off x="3291840" y="1280160"/>
            <a:ext cx="2560320" cy="1508760"/>
          </a:xfrm>
          <a:prstGeom prst="roundRect">
            <a:avLst>
              <a:gd name="adj" fmla="val 4848"/>
            </a:avLst>
          </a:prstGeom>
          <a:solidFill>
            <a:schemeClr val="bg2"/>
          </a:solidFill>
          <a:ln/>
          <a:effectLst>
            <a:outerShdw sx="100000" sy="100000" kx="0" ky="0" algn="bl" rotWithShape="0" blurRad="101600" dist="25400" dir="5400000">
              <a:srgbClr val="000000">
                <a:alpha val="12000"/>
              </a:srgbClr>
            </a:outerShdw>
          </a:effectLst>
        </p:spPr>
      </p:sp>
      <p:sp>
        <p:nvSpPr>
          <p:cNvPr id="10" name="Icon circle"/>
          <p:cNvSpPr/>
          <p:nvPr/>
        </p:nvSpPr>
        <p:spPr>
          <a:xfrm>
            <a:off x="3429000" y="1417320"/>
            <a:ext cx="347472" cy="347472"/>
          </a:xfrm>
          <a:prstGeom prst="ellipse">
            <a:avLst/>
          </a:prstGeom>
          <a:solidFill>
            <a:srgbClr val="C0283F"/>
          </a:solidFill>
          <a:ln/>
        </p:spPr>
      </p:sp>
      <p:pic>
        <p:nvPicPr>
          <p:cNvPr id="11" name="Image 1" descr="FaChartLine">    </p:cNvPr>
          <p:cNvPicPr>
            <a:picLocks noChangeAspect="1"/>
          </p:cNvPicPr>
          <p:nvPr/>
        </p:nvPicPr>
        <p:blipFill>
          <a:blip r:embed="rId2"/>
          <a:stretch>
            <a:fillRect/>
          </a:stretch>
        </p:blipFill>
        <p:spPr>
          <a:xfrm>
            <a:off x="3515868" y="1504188"/>
            <a:ext cx="173736" cy="173736"/>
          </a:xfrm>
          <a:prstGeom prst="rect">
            <a:avLst/>
          </a:prstGeom>
        </p:spPr>
      </p:pic>
      <p:sp>
        <p:nvSpPr>
          <p:cNvPr id="12" name="Text 8"/>
          <p:cNvSpPr txBox="1"/>
          <p:nvPr/>
        </p:nvSpPr>
        <p:spPr>
          <a:xfrm>
            <a:off x="3886200" y="1417320"/>
            <a:ext cx="1874520" cy="347472"/>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Modest accuracy</a:t>
            </a:r>
            <a:endParaRPr lang="en-US" sz="1400" dirty="0"/>
          </a:p>
        </p:txBody>
      </p:sp>
      <p:sp>
        <p:nvSpPr>
          <p:cNvPr id="13" name="Text 9"/>
          <p:cNvSpPr txBox="1"/>
          <p:nvPr/>
        </p:nvSpPr>
        <p:spPr>
          <a:xfrm>
            <a:off x="3429000" y="1874520"/>
            <a:ext cx="2286000" cy="45720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Precision 33%, recall 45%; close to a simple rule.</a:t>
            </a:r>
            <a:endParaRPr lang="en-US" sz="1350" dirty="0"/>
          </a:p>
        </p:txBody>
      </p:sp>
      <p:sp>
        <p:nvSpPr>
          <p:cNvPr id="14" name="Text 10"/>
          <p:cNvSpPr txBox="1"/>
          <p:nvPr/>
        </p:nvSpPr>
        <p:spPr>
          <a:xfrm>
            <a:off x="3429000" y="2331720"/>
            <a:ext cx="2286000" cy="365760"/>
          </a:xfrm>
          <a:prstGeom prst="rect">
            <a:avLst/>
          </a:prstGeom>
          <a:noFill/>
          <a:ln/>
        </p:spPr>
        <p:txBody>
          <a:bodyPr wrap="square" lIns="0" tIns="0" rIns="0" bIns="0" rtlCol="0" anchor="t"/>
          <a:lstStyle/>
          <a:p>
            <a:pPr indent="0" marL="0">
              <a:buNone/>
            </a:pPr>
            <a:r>
              <a:rPr lang="en-US" sz="1350" b="1" dirty="0">
                <a:solidFill>
                  <a:srgbClr val="0B7A7D"/>
                </a:solidFill>
                <a:latin typeface="Calibri" pitchFamily="34" charset="0"/>
                <a:ea typeface="Calibri" pitchFamily="34" charset="-122"/>
                <a:cs typeface="Calibri" pitchFamily="34" charset="-120"/>
              </a:rPr>
              <a:t>Mitigation: </a:t>
            </a:r>
            <a:pPr indent="0" marL="0">
              <a:buNone/>
            </a:pPr>
            <a:r>
              <a:rPr lang="en-US" sz="1350" dirty="0">
                <a:solidFill>
                  <a:srgbClr val="0B7A7D"/>
                </a:solidFill>
                <a:latin typeface="Calibri" pitchFamily="34" charset="0"/>
                <a:ea typeface="Calibri" pitchFamily="34" charset="-122"/>
                <a:cs typeface="Calibri" pitchFamily="34" charset="-120"/>
              </a:rPr>
              <a:t>Use as triage with human review.</a:t>
            </a:r>
            <a:endParaRPr lang="en-US" sz="1350" dirty="0"/>
          </a:p>
        </p:txBody>
      </p:sp>
      <p:sp>
        <p:nvSpPr>
          <p:cNvPr id="15" name="Card"/>
          <p:cNvSpPr/>
          <p:nvPr/>
        </p:nvSpPr>
        <p:spPr>
          <a:xfrm>
            <a:off x="6126480" y="1280160"/>
            <a:ext cx="2560320" cy="1508760"/>
          </a:xfrm>
          <a:prstGeom prst="roundRect">
            <a:avLst>
              <a:gd name="adj" fmla="val 4848"/>
            </a:avLst>
          </a:prstGeom>
          <a:solidFill>
            <a:schemeClr val="bg2"/>
          </a:solidFill>
          <a:ln/>
          <a:effectLst>
            <a:outerShdw sx="100000" sy="100000" kx="0" ky="0" algn="bl" rotWithShape="0" blurRad="101600" dist="25400" dir="5400000">
              <a:srgbClr val="000000">
                <a:alpha val="12000"/>
              </a:srgbClr>
            </a:outerShdw>
          </a:effectLst>
        </p:spPr>
      </p:sp>
      <p:sp>
        <p:nvSpPr>
          <p:cNvPr id="16" name="Icon circle"/>
          <p:cNvSpPr/>
          <p:nvPr/>
        </p:nvSpPr>
        <p:spPr>
          <a:xfrm>
            <a:off x="6263640" y="1417320"/>
            <a:ext cx="347472" cy="347472"/>
          </a:xfrm>
          <a:prstGeom prst="ellipse">
            <a:avLst/>
          </a:prstGeom>
          <a:solidFill>
            <a:srgbClr val="C0283F"/>
          </a:solidFill>
          <a:ln/>
        </p:spPr>
      </p:sp>
      <p:pic>
        <p:nvPicPr>
          <p:cNvPr id="17" name="Image 2" descr="FaClock">    </p:cNvPr>
          <p:cNvPicPr>
            <a:picLocks noChangeAspect="1"/>
          </p:cNvPicPr>
          <p:nvPr/>
        </p:nvPicPr>
        <p:blipFill>
          <a:blip r:embed="rId3"/>
          <a:stretch>
            <a:fillRect/>
          </a:stretch>
        </p:blipFill>
        <p:spPr>
          <a:xfrm>
            <a:off x="6350508" y="1504188"/>
            <a:ext cx="173736" cy="173736"/>
          </a:xfrm>
          <a:prstGeom prst="rect">
            <a:avLst/>
          </a:prstGeom>
        </p:spPr>
      </p:pic>
      <p:sp>
        <p:nvSpPr>
          <p:cNvPr id="18" name="Text 13"/>
          <p:cNvSpPr txBox="1"/>
          <p:nvPr/>
        </p:nvSpPr>
        <p:spPr>
          <a:xfrm>
            <a:off x="6720840" y="1417320"/>
            <a:ext cx="1874520" cy="347472"/>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Short history</a:t>
            </a:r>
            <a:endParaRPr lang="en-US" sz="1400" dirty="0"/>
          </a:p>
        </p:txBody>
      </p:sp>
      <p:sp>
        <p:nvSpPr>
          <p:cNvPr id="19" name="Text 14"/>
          <p:cNvSpPr txBox="1"/>
          <p:nvPr/>
        </p:nvSpPr>
        <p:spPr>
          <a:xfrm>
            <a:off x="6263640" y="1874520"/>
            <a:ext cx="2286000" cy="45720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Only 3 months; no drift or seasonality tested.</a:t>
            </a:r>
            <a:endParaRPr lang="en-US" sz="1350" dirty="0"/>
          </a:p>
        </p:txBody>
      </p:sp>
      <p:sp>
        <p:nvSpPr>
          <p:cNvPr id="20" name="Text 15"/>
          <p:cNvSpPr txBox="1"/>
          <p:nvPr/>
        </p:nvSpPr>
        <p:spPr>
          <a:xfrm>
            <a:off x="6263640" y="2331720"/>
            <a:ext cx="2286000" cy="365760"/>
          </a:xfrm>
          <a:prstGeom prst="rect">
            <a:avLst/>
          </a:prstGeom>
          <a:noFill/>
          <a:ln/>
        </p:spPr>
        <p:txBody>
          <a:bodyPr wrap="square" lIns="0" tIns="0" rIns="0" bIns="0" rtlCol="0" anchor="t"/>
          <a:lstStyle/>
          <a:p>
            <a:pPr indent="0" marL="0">
              <a:buNone/>
            </a:pPr>
            <a:r>
              <a:rPr lang="en-US" sz="1350" b="1" dirty="0">
                <a:solidFill>
                  <a:srgbClr val="0B7A7D"/>
                </a:solidFill>
                <a:latin typeface="Calibri" pitchFamily="34" charset="0"/>
                <a:ea typeface="Calibri" pitchFamily="34" charset="-122"/>
                <a:cs typeface="Calibri" pitchFamily="34" charset="-120"/>
              </a:rPr>
              <a:t>Mitigation: </a:t>
            </a:r>
            <a:pPr indent="0" marL="0">
              <a:buNone/>
            </a:pPr>
            <a:r>
              <a:rPr lang="en-US" sz="1350" dirty="0">
                <a:solidFill>
                  <a:srgbClr val="0B7A7D"/>
                </a:solidFill>
                <a:latin typeface="Calibri" pitchFamily="34" charset="0"/>
                <a:ea typeface="Calibri" pitchFamily="34" charset="-122"/>
                <a:cs typeface="Calibri" pitchFamily="34" charset="-120"/>
              </a:rPr>
              <a:t>Monitor and retrain on new data.</a:t>
            </a:r>
            <a:endParaRPr lang="en-US" sz="1350" dirty="0"/>
          </a:p>
        </p:txBody>
      </p:sp>
      <p:sp>
        <p:nvSpPr>
          <p:cNvPr id="21" name="Card"/>
          <p:cNvSpPr/>
          <p:nvPr/>
        </p:nvSpPr>
        <p:spPr>
          <a:xfrm>
            <a:off x="457200" y="2926080"/>
            <a:ext cx="2560320" cy="1508760"/>
          </a:xfrm>
          <a:prstGeom prst="roundRect">
            <a:avLst>
              <a:gd name="adj" fmla="val 4848"/>
            </a:avLst>
          </a:prstGeom>
          <a:solidFill>
            <a:schemeClr val="bg2"/>
          </a:solidFill>
          <a:ln/>
          <a:effectLst>
            <a:outerShdw sx="100000" sy="100000" kx="0" ky="0" algn="bl" rotWithShape="0" blurRad="101600" dist="25400" dir="5400000">
              <a:srgbClr val="000000">
                <a:alpha val="12000"/>
              </a:srgbClr>
            </a:outerShdw>
          </a:effectLst>
        </p:spPr>
      </p:sp>
      <p:sp>
        <p:nvSpPr>
          <p:cNvPr id="22" name="Icon circle"/>
          <p:cNvSpPr/>
          <p:nvPr/>
        </p:nvSpPr>
        <p:spPr>
          <a:xfrm>
            <a:off x="594360" y="3063240"/>
            <a:ext cx="347472" cy="347472"/>
          </a:xfrm>
          <a:prstGeom prst="ellipse">
            <a:avLst/>
          </a:prstGeom>
          <a:solidFill>
            <a:srgbClr val="F2A541"/>
          </a:solidFill>
          <a:ln/>
        </p:spPr>
      </p:sp>
      <p:pic>
        <p:nvPicPr>
          <p:cNvPr id="23" name="Image 3" descr="FaBalanceScale">    </p:cNvPr>
          <p:cNvPicPr>
            <a:picLocks noChangeAspect="1"/>
          </p:cNvPicPr>
          <p:nvPr/>
        </p:nvPicPr>
        <p:blipFill>
          <a:blip r:embed="rId4"/>
          <a:stretch>
            <a:fillRect/>
          </a:stretch>
        </p:blipFill>
        <p:spPr>
          <a:xfrm>
            <a:off x="681228" y="3150108"/>
            <a:ext cx="173736" cy="173736"/>
          </a:xfrm>
          <a:prstGeom prst="rect">
            <a:avLst/>
          </a:prstGeom>
        </p:spPr>
      </p:pic>
      <p:sp>
        <p:nvSpPr>
          <p:cNvPr id="24" name="Text 18"/>
          <p:cNvSpPr txBox="1"/>
          <p:nvPr/>
        </p:nvSpPr>
        <p:spPr>
          <a:xfrm>
            <a:off x="1051560" y="3063240"/>
            <a:ext cx="1874520" cy="347472"/>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Scores are for ranking</a:t>
            </a:r>
            <a:endParaRPr lang="en-US" sz="1400" dirty="0"/>
          </a:p>
        </p:txBody>
      </p:sp>
      <p:sp>
        <p:nvSpPr>
          <p:cNvPr id="25" name="Text 19"/>
          <p:cNvSpPr txBox="1"/>
          <p:nvPr/>
        </p:nvSpPr>
        <p:spPr>
          <a:xfrm>
            <a:off x="594360" y="3520440"/>
            <a:ext cx="2286000" cy="45720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Not calibrated probabilities; bands are heuristic.</a:t>
            </a:r>
            <a:endParaRPr lang="en-US" sz="1350" dirty="0"/>
          </a:p>
        </p:txBody>
      </p:sp>
      <p:sp>
        <p:nvSpPr>
          <p:cNvPr id="26" name="Text 20"/>
          <p:cNvSpPr txBox="1"/>
          <p:nvPr/>
        </p:nvSpPr>
        <p:spPr>
          <a:xfrm>
            <a:off x="594360" y="3977640"/>
            <a:ext cx="2286000" cy="365760"/>
          </a:xfrm>
          <a:prstGeom prst="rect">
            <a:avLst/>
          </a:prstGeom>
          <a:noFill/>
          <a:ln/>
        </p:spPr>
        <p:txBody>
          <a:bodyPr wrap="square" lIns="0" tIns="0" rIns="0" bIns="0" rtlCol="0" anchor="t"/>
          <a:lstStyle/>
          <a:p>
            <a:pPr indent="0" marL="0">
              <a:buNone/>
            </a:pPr>
            <a:r>
              <a:rPr lang="en-US" sz="1350" b="1" dirty="0">
                <a:solidFill>
                  <a:srgbClr val="0B7A7D"/>
                </a:solidFill>
                <a:latin typeface="Calibri" pitchFamily="34" charset="0"/>
                <a:ea typeface="Calibri" pitchFamily="34" charset="-122"/>
                <a:cs typeface="Calibri" pitchFamily="34" charset="-120"/>
              </a:rPr>
              <a:t>Mitigation: </a:t>
            </a:r>
            <a:pPr indent="0" marL="0">
              <a:buNone/>
            </a:pPr>
            <a:r>
              <a:rPr lang="en-US" sz="1350" dirty="0">
                <a:solidFill>
                  <a:srgbClr val="0B7A7D"/>
                </a:solidFill>
                <a:latin typeface="Calibri" pitchFamily="34" charset="0"/>
                <a:ea typeface="Calibri" pitchFamily="34" charset="-122"/>
                <a:cs typeface="Calibri" pitchFamily="34" charset="-120"/>
              </a:rPr>
              <a:t>Do not quote as % chance.</a:t>
            </a:r>
            <a:endParaRPr lang="en-US" sz="1350" dirty="0"/>
          </a:p>
        </p:txBody>
      </p:sp>
      <p:sp>
        <p:nvSpPr>
          <p:cNvPr id="27" name="Card"/>
          <p:cNvSpPr/>
          <p:nvPr/>
        </p:nvSpPr>
        <p:spPr>
          <a:xfrm>
            <a:off x="3291840" y="2926080"/>
            <a:ext cx="2560320" cy="1508760"/>
          </a:xfrm>
          <a:prstGeom prst="roundRect">
            <a:avLst>
              <a:gd name="adj" fmla="val 4848"/>
            </a:avLst>
          </a:prstGeom>
          <a:solidFill>
            <a:schemeClr val="bg2"/>
          </a:solidFill>
          <a:ln/>
          <a:effectLst>
            <a:outerShdw sx="100000" sy="100000" kx="0" ky="0" algn="bl" rotWithShape="0" blurRad="101600" dist="25400" dir="5400000">
              <a:srgbClr val="000000">
                <a:alpha val="12000"/>
              </a:srgbClr>
            </a:outerShdw>
          </a:effectLst>
        </p:spPr>
      </p:sp>
      <p:sp>
        <p:nvSpPr>
          <p:cNvPr id="28" name="Icon circle"/>
          <p:cNvSpPr/>
          <p:nvPr/>
        </p:nvSpPr>
        <p:spPr>
          <a:xfrm>
            <a:off x="3429000" y="3063240"/>
            <a:ext cx="347472" cy="347472"/>
          </a:xfrm>
          <a:prstGeom prst="ellipse">
            <a:avLst/>
          </a:prstGeom>
          <a:solidFill>
            <a:srgbClr val="F2A541"/>
          </a:solidFill>
          <a:ln/>
        </p:spPr>
      </p:sp>
      <p:pic>
        <p:nvPicPr>
          <p:cNvPr id="29" name="Image 4" descr="FaUsers">    </p:cNvPr>
          <p:cNvPicPr>
            <a:picLocks noChangeAspect="1"/>
          </p:cNvPicPr>
          <p:nvPr/>
        </p:nvPicPr>
        <p:blipFill>
          <a:blip r:embed="rId5"/>
          <a:stretch>
            <a:fillRect/>
          </a:stretch>
        </p:blipFill>
        <p:spPr>
          <a:xfrm>
            <a:off x="3515868" y="3150108"/>
            <a:ext cx="173736" cy="173736"/>
          </a:xfrm>
          <a:prstGeom prst="rect">
            <a:avLst/>
          </a:prstGeom>
        </p:spPr>
      </p:pic>
      <p:sp>
        <p:nvSpPr>
          <p:cNvPr id="30" name="Text 23"/>
          <p:cNvSpPr txBox="1"/>
          <p:nvPr/>
        </p:nvSpPr>
        <p:spPr>
          <a:xfrm>
            <a:off x="3886200" y="3063240"/>
            <a:ext cx="1874520" cy="347472"/>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Capacity assumption</a:t>
            </a:r>
            <a:endParaRPr lang="en-US" sz="1400" dirty="0"/>
          </a:p>
        </p:txBody>
      </p:sp>
      <p:sp>
        <p:nvSpPr>
          <p:cNvPr id="31" name="Text 24"/>
          <p:cNvSpPr txBox="1"/>
          <p:nvPr/>
        </p:nvSpPr>
        <p:spPr>
          <a:xfrm>
            <a:off x="3429000" y="3520440"/>
            <a:ext cx="2286000" cy="45720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Threshold assumes 30% review capacity.</a:t>
            </a:r>
            <a:endParaRPr lang="en-US" sz="1350" dirty="0"/>
          </a:p>
        </p:txBody>
      </p:sp>
      <p:sp>
        <p:nvSpPr>
          <p:cNvPr id="32" name="Text 25"/>
          <p:cNvSpPr txBox="1"/>
          <p:nvPr/>
        </p:nvSpPr>
        <p:spPr>
          <a:xfrm>
            <a:off x="3429000" y="3977640"/>
            <a:ext cx="2286000" cy="365760"/>
          </a:xfrm>
          <a:prstGeom prst="rect">
            <a:avLst/>
          </a:prstGeom>
          <a:noFill/>
          <a:ln/>
        </p:spPr>
        <p:txBody>
          <a:bodyPr wrap="square" lIns="0" tIns="0" rIns="0" bIns="0" rtlCol="0" anchor="t"/>
          <a:lstStyle/>
          <a:p>
            <a:pPr indent="0" marL="0">
              <a:buNone/>
            </a:pPr>
            <a:r>
              <a:rPr lang="en-US" sz="1350" b="1" dirty="0">
                <a:solidFill>
                  <a:srgbClr val="0B7A7D"/>
                </a:solidFill>
                <a:latin typeface="Calibri" pitchFamily="34" charset="0"/>
                <a:ea typeface="Calibri" pitchFamily="34" charset="-122"/>
                <a:cs typeface="Calibri" pitchFamily="34" charset="-120"/>
              </a:rPr>
              <a:t>Mitigation: </a:t>
            </a:r>
            <a:pPr indent="0" marL="0">
              <a:buNone/>
            </a:pPr>
            <a:r>
              <a:rPr lang="en-US" sz="1350" dirty="0">
                <a:solidFill>
                  <a:srgbClr val="0B7A7D"/>
                </a:solidFill>
                <a:latin typeface="Calibri" pitchFamily="34" charset="0"/>
                <a:ea typeface="Calibri" pitchFamily="34" charset="-122"/>
                <a:cs typeface="Calibri" pitchFamily="34" charset="-120"/>
              </a:rPr>
              <a:t>Confirm real capacity.</a:t>
            </a:r>
            <a:endParaRPr lang="en-US" sz="1350" dirty="0"/>
          </a:p>
        </p:txBody>
      </p:sp>
      <p:sp>
        <p:nvSpPr>
          <p:cNvPr id="33" name="Card"/>
          <p:cNvSpPr/>
          <p:nvPr/>
        </p:nvSpPr>
        <p:spPr>
          <a:xfrm>
            <a:off x="6126480" y="2926080"/>
            <a:ext cx="2560320" cy="1508760"/>
          </a:xfrm>
          <a:prstGeom prst="roundRect">
            <a:avLst>
              <a:gd name="adj" fmla="val 4848"/>
            </a:avLst>
          </a:prstGeom>
          <a:solidFill>
            <a:schemeClr val="bg2"/>
          </a:solidFill>
          <a:ln/>
          <a:effectLst>
            <a:outerShdw sx="100000" sy="100000" kx="0" ky="0" algn="bl" rotWithShape="0" blurRad="101600" dist="25400" dir="5400000">
              <a:srgbClr val="000000">
                <a:alpha val="12000"/>
              </a:srgbClr>
            </a:outerShdw>
          </a:effectLst>
        </p:spPr>
      </p:sp>
      <p:sp>
        <p:nvSpPr>
          <p:cNvPr id="34" name="Icon circle"/>
          <p:cNvSpPr/>
          <p:nvPr/>
        </p:nvSpPr>
        <p:spPr>
          <a:xfrm>
            <a:off x="6263640" y="3063240"/>
            <a:ext cx="347472" cy="347472"/>
          </a:xfrm>
          <a:prstGeom prst="ellipse">
            <a:avLst/>
          </a:prstGeom>
          <a:solidFill>
            <a:srgbClr val="F2A541"/>
          </a:solidFill>
          <a:ln/>
        </p:spPr>
      </p:sp>
      <p:pic>
        <p:nvPicPr>
          <p:cNvPr id="35" name="Image 5" descr="FaUserShield">    </p:cNvPr>
          <p:cNvPicPr>
            <a:picLocks noChangeAspect="1"/>
          </p:cNvPicPr>
          <p:nvPr/>
        </p:nvPicPr>
        <p:blipFill>
          <a:blip r:embed="rId6"/>
          <a:stretch>
            <a:fillRect/>
          </a:stretch>
        </p:blipFill>
        <p:spPr>
          <a:xfrm>
            <a:off x="6350508" y="3150108"/>
            <a:ext cx="173736" cy="173736"/>
          </a:xfrm>
          <a:prstGeom prst="rect">
            <a:avLst/>
          </a:prstGeom>
        </p:spPr>
      </p:pic>
      <p:sp>
        <p:nvSpPr>
          <p:cNvPr id="36" name="Text 28"/>
          <p:cNvSpPr txBox="1"/>
          <p:nvPr/>
        </p:nvSpPr>
        <p:spPr>
          <a:xfrm>
            <a:off x="6720840" y="3063240"/>
            <a:ext cx="1874520" cy="347472"/>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Fairness not audited</a:t>
            </a:r>
            <a:endParaRPr lang="en-US" sz="1400" dirty="0"/>
          </a:p>
        </p:txBody>
      </p:sp>
      <p:sp>
        <p:nvSpPr>
          <p:cNvPr id="37" name="Text 29"/>
          <p:cNvSpPr txBox="1"/>
          <p:nvPr/>
        </p:nvSpPr>
        <p:spPr>
          <a:xfrm>
            <a:off x="6263640" y="3520440"/>
            <a:ext cx="2286000" cy="45720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Gender excluded, but city and segment unchecked.</a:t>
            </a:r>
            <a:endParaRPr lang="en-US" sz="1350" dirty="0"/>
          </a:p>
        </p:txBody>
      </p:sp>
      <p:sp>
        <p:nvSpPr>
          <p:cNvPr id="38" name="Text 30"/>
          <p:cNvSpPr txBox="1"/>
          <p:nvPr/>
        </p:nvSpPr>
        <p:spPr>
          <a:xfrm>
            <a:off x="6263640" y="3977640"/>
            <a:ext cx="2286000" cy="365760"/>
          </a:xfrm>
          <a:prstGeom prst="rect">
            <a:avLst/>
          </a:prstGeom>
          <a:noFill/>
          <a:ln/>
        </p:spPr>
        <p:txBody>
          <a:bodyPr wrap="square" lIns="0" tIns="0" rIns="0" bIns="0" rtlCol="0" anchor="t"/>
          <a:lstStyle/>
          <a:p>
            <a:pPr indent="0" marL="0">
              <a:buNone/>
            </a:pPr>
            <a:r>
              <a:rPr lang="en-US" sz="1350" b="1" dirty="0">
                <a:solidFill>
                  <a:srgbClr val="0B7A7D"/>
                </a:solidFill>
                <a:latin typeface="Calibri" pitchFamily="34" charset="0"/>
                <a:ea typeface="Calibri" pitchFamily="34" charset="-122"/>
                <a:cs typeface="Calibri" pitchFamily="34" charset="-120"/>
              </a:rPr>
              <a:t>Mitigation: </a:t>
            </a:r>
            <a:pPr indent="0" marL="0">
              <a:buNone/>
            </a:pPr>
            <a:r>
              <a:rPr lang="en-US" sz="1350" dirty="0">
                <a:solidFill>
                  <a:srgbClr val="0B7A7D"/>
                </a:solidFill>
                <a:latin typeface="Calibri" pitchFamily="34" charset="0"/>
                <a:ea typeface="Calibri" pitchFamily="34" charset="-122"/>
                <a:cs typeface="Calibri" pitchFamily="34" charset="-120"/>
              </a:rPr>
              <a:t>Audit before real use.</a:t>
            </a:r>
            <a:endParaRPr lang="en-US" sz="13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600" b="1" dirty="0">
                <a:solidFill>
                  <a:schemeClr val="bg1"/>
                </a:solidFill>
              </a:rPr>
              <a:t>Recommendation and decisions needed</a:t>
            </a:r>
            <a:endParaRPr lang="en-US" sz="2600" dirty="0"/>
          </a:p>
        </p:txBody>
      </p:sp>
      <p:sp>
        <p:nvSpPr>
          <p:cNvPr id="3" name="Step number"/>
          <p:cNvSpPr/>
          <p:nvPr/>
        </p:nvSpPr>
        <p:spPr>
          <a:xfrm>
            <a:off x="457200" y="1325880"/>
            <a:ext cx="502920" cy="502920"/>
          </a:xfrm>
          <a:prstGeom prst="ellipse">
            <a:avLst/>
          </a:prstGeom>
          <a:solidFill>
            <a:schemeClr val="accent2"/>
          </a:solidFill>
          <a:ln/>
        </p:spPr>
      </p:sp>
      <p:sp>
        <p:nvSpPr>
          <p:cNvPr id="4" name="Text 2"/>
          <p:cNvSpPr txBox="1"/>
          <p:nvPr/>
        </p:nvSpPr>
        <p:spPr>
          <a:xfrm>
            <a:off x="457200" y="1325880"/>
            <a:ext cx="502920" cy="502920"/>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143000" y="1280160"/>
            <a:ext cx="3931920" cy="292608"/>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Pilot as a triage aid</a:t>
            </a:r>
            <a:endParaRPr lang="en-US" sz="1500" dirty="0"/>
          </a:p>
        </p:txBody>
      </p:sp>
      <p:sp>
        <p:nvSpPr>
          <p:cNvPr id="6" name="Text 4"/>
          <p:cNvSpPr txBox="1"/>
          <p:nvPr/>
        </p:nvSpPr>
        <p:spPr>
          <a:xfrm>
            <a:off x="1143000" y="1581912"/>
            <a:ext cx="3931920" cy="457200"/>
          </a:xfrm>
          <a:prstGeom prst="rect">
            <a:avLst/>
          </a:prstGeom>
          <a:noFill/>
          <a:ln/>
        </p:spPr>
        <p:txBody>
          <a:bodyPr wrap="square" lIns="0" tIns="0" rIns="0" bIns="0" rtlCol="0" anchor="t"/>
          <a:lstStyle/>
          <a:p>
            <a:pPr indent="0" marL="0">
              <a:buNone/>
            </a:pPr>
            <a:r>
              <a:rPr lang="en-US" sz="1350" dirty="0">
                <a:solidFill>
                  <a:schemeClr val="accent6"/>
                </a:solidFill>
                <a:latin typeface="Calibri" pitchFamily="34" charset="0"/>
                <a:ea typeface="Calibri" pitchFamily="34" charset="-122"/>
                <a:cs typeface="Calibri" pitchFamily="34" charset="-120"/>
              </a:rPr>
              <a:t>Human reviewers keep the final say; track outcomes.</a:t>
            </a:r>
            <a:endParaRPr lang="en-US" sz="1350" dirty="0"/>
          </a:p>
        </p:txBody>
      </p:sp>
      <p:sp>
        <p:nvSpPr>
          <p:cNvPr id="7" name="Step number"/>
          <p:cNvSpPr/>
          <p:nvPr/>
        </p:nvSpPr>
        <p:spPr>
          <a:xfrm>
            <a:off x="457200" y="2148840"/>
            <a:ext cx="502920" cy="502920"/>
          </a:xfrm>
          <a:prstGeom prst="ellipse">
            <a:avLst/>
          </a:prstGeom>
          <a:solidFill>
            <a:schemeClr val="accent2"/>
          </a:solidFill>
          <a:ln/>
        </p:spPr>
      </p:sp>
      <p:sp>
        <p:nvSpPr>
          <p:cNvPr id="8" name="Text 6"/>
          <p:cNvSpPr txBox="1"/>
          <p:nvPr/>
        </p:nvSpPr>
        <p:spPr>
          <a:xfrm>
            <a:off x="457200" y="2148840"/>
            <a:ext cx="502920" cy="502920"/>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1143000" y="2103120"/>
            <a:ext cx="3931920" cy="292608"/>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Integrate the Data Science model</a:t>
            </a:r>
            <a:endParaRPr lang="en-US" sz="1500" dirty="0"/>
          </a:p>
        </p:txBody>
      </p:sp>
      <p:sp>
        <p:nvSpPr>
          <p:cNvPr id="10" name="Text 8"/>
          <p:cNvSpPr txBox="1"/>
          <p:nvPr/>
        </p:nvSpPr>
        <p:spPr>
          <a:xfrm>
            <a:off x="1143000" y="2404872"/>
            <a:ext cx="3931920" cy="457200"/>
          </a:xfrm>
          <a:prstGeom prst="rect">
            <a:avLst/>
          </a:prstGeom>
          <a:noFill/>
          <a:ln/>
        </p:spPr>
        <p:txBody>
          <a:bodyPr wrap="square" lIns="0" tIns="0" rIns="0" bIns="0" rtlCol="0" anchor="t"/>
          <a:lstStyle/>
          <a:p>
            <a:pPr indent="0" marL="0">
              <a:buNone/>
            </a:pPr>
            <a:r>
              <a:rPr lang="en-US" sz="1350" dirty="0">
                <a:solidFill>
                  <a:schemeClr val="accent6"/>
                </a:solidFill>
                <a:latin typeface="Calibri" pitchFamily="34" charset="0"/>
                <a:ea typeface="Calibri" pitchFamily="34" charset="-122"/>
                <a:cs typeface="Calibri" pitchFamily="34" charset="-120"/>
              </a:rPr>
              <a:t>Drop in via the agreed interface, then re-run all 42 tests.</a:t>
            </a:r>
            <a:endParaRPr lang="en-US" sz="1350" dirty="0"/>
          </a:p>
        </p:txBody>
      </p:sp>
      <p:sp>
        <p:nvSpPr>
          <p:cNvPr id="11" name="Step number"/>
          <p:cNvSpPr/>
          <p:nvPr/>
        </p:nvSpPr>
        <p:spPr>
          <a:xfrm>
            <a:off x="457200" y="2971800"/>
            <a:ext cx="502920" cy="502920"/>
          </a:xfrm>
          <a:prstGeom prst="ellipse">
            <a:avLst/>
          </a:prstGeom>
          <a:solidFill>
            <a:schemeClr val="accent2"/>
          </a:solidFill>
          <a:ln/>
        </p:spPr>
      </p:sp>
      <p:sp>
        <p:nvSpPr>
          <p:cNvPr id="12" name="Text 10"/>
          <p:cNvSpPr txBox="1"/>
          <p:nvPr/>
        </p:nvSpPr>
        <p:spPr>
          <a:xfrm>
            <a:off x="457200" y="2971800"/>
            <a:ext cx="502920" cy="502920"/>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3</a:t>
            </a:r>
            <a:endParaRPr lang="en-US" sz="1800" dirty="0"/>
          </a:p>
        </p:txBody>
      </p:sp>
      <p:sp>
        <p:nvSpPr>
          <p:cNvPr id="13" name="Text 11"/>
          <p:cNvSpPr txBox="1"/>
          <p:nvPr/>
        </p:nvSpPr>
        <p:spPr>
          <a:xfrm>
            <a:off x="1143000" y="2926080"/>
            <a:ext cx="3931920" cy="292608"/>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Add customer history features</a:t>
            </a:r>
            <a:endParaRPr lang="en-US" sz="1500" dirty="0"/>
          </a:p>
        </p:txBody>
      </p:sp>
      <p:sp>
        <p:nvSpPr>
          <p:cNvPr id="14" name="Text 12"/>
          <p:cNvSpPr txBox="1"/>
          <p:nvPr/>
        </p:nvSpPr>
        <p:spPr>
          <a:xfrm>
            <a:off x="1143000" y="3227832"/>
            <a:ext cx="3931920" cy="457200"/>
          </a:xfrm>
          <a:prstGeom prst="rect">
            <a:avLst/>
          </a:prstGeom>
          <a:noFill/>
          <a:ln/>
        </p:spPr>
        <p:txBody>
          <a:bodyPr wrap="square" lIns="0" tIns="0" rIns="0" bIns="0" rtlCol="0" anchor="t"/>
          <a:lstStyle/>
          <a:p>
            <a:pPr indent="0" marL="0">
              <a:buNone/>
            </a:pPr>
            <a:r>
              <a:rPr lang="en-US" sz="1350" dirty="0">
                <a:solidFill>
                  <a:schemeClr val="accent6"/>
                </a:solidFill>
                <a:latin typeface="Calibri" pitchFamily="34" charset="0"/>
                <a:ea typeface="Calibri" pitchFamily="34" charset="-122"/>
                <a:cs typeface="Calibri" pitchFamily="34" charset="-120"/>
              </a:rPr>
              <a:t>Velocity and repeat behaviour may add signal; untested so far.</a:t>
            </a:r>
            <a:endParaRPr lang="en-US" sz="1350" dirty="0"/>
          </a:p>
        </p:txBody>
      </p:sp>
      <p:sp>
        <p:nvSpPr>
          <p:cNvPr id="15" name="Step number"/>
          <p:cNvSpPr/>
          <p:nvPr/>
        </p:nvSpPr>
        <p:spPr>
          <a:xfrm>
            <a:off x="457200" y="3794760"/>
            <a:ext cx="502920" cy="502920"/>
          </a:xfrm>
          <a:prstGeom prst="ellipse">
            <a:avLst/>
          </a:prstGeom>
          <a:solidFill>
            <a:schemeClr val="accent2"/>
          </a:solidFill>
          <a:ln/>
        </p:spPr>
      </p:sp>
      <p:sp>
        <p:nvSpPr>
          <p:cNvPr id="16" name="Text 14"/>
          <p:cNvSpPr txBox="1"/>
          <p:nvPr/>
        </p:nvSpPr>
        <p:spPr>
          <a:xfrm>
            <a:off x="457200" y="3794760"/>
            <a:ext cx="502920" cy="502920"/>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4</a:t>
            </a:r>
            <a:endParaRPr lang="en-US" sz="1800" dirty="0"/>
          </a:p>
        </p:txBody>
      </p:sp>
      <p:sp>
        <p:nvSpPr>
          <p:cNvPr id="17" name="Text 15"/>
          <p:cNvSpPr txBox="1"/>
          <p:nvPr/>
        </p:nvSpPr>
        <p:spPr>
          <a:xfrm>
            <a:off x="1143000" y="3749040"/>
            <a:ext cx="3931920" cy="292608"/>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Audit fairness and add monitoring</a:t>
            </a:r>
            <a:endParaRPr lang="en-US" sz="1500" dirty="0"/>
          </a:p>
        </p:txBody>
      </p:sp>
      <p:sp>
        <p:nvSpPr>
          <p:cNvPr id="18" name="Text 16"/>
          <p:cNvSpPr txBox="1"/>
          <p:nvPr/>
        </p:nvSpPr>
        <p:spPr>
          <a:xfrm>
            <a:off x="1143000" y="4050792"/>
            <a:ext cx="3931920" cy="457200"/>
          </a:xfrm>
          <a:prstGeom prst="rect">
            <a:avLst/>
          </a:prstGeom>
          <a:noFill/>
          <a:ln/>
        </p:spPr>
        <p:txBody>
          <a:bodyPr wrap="square" lIns="0" tIns="0" rIns="0" bIns="0" rtlCol="0" anchor="t"/>
          <a:lstStyle/>
          <a:p>
            <a:pPr indent="0" marL="0">
              <a:buNone/>
            </a:pPr>
            <a:r>
              <a:rPr lang="en-US" sz="1350" dirty="0">
                <a:solidFill>
                  <a:schemeClr val="accent6"/>
                </a:solidFill>
                <a:latin typeface="Calibri" pitchFamily="34" charset="0"/>
                <a:ea typeface="Calibri" pitchFamily="34" charset="-122"/>
                <a:cs typeface="Calibri" pitchFamily="34" charset="-120"/>
              </a:rPr>
              <a:t>Check groups; watch score drift before wider use.</a:t>
            </a:r>
            <a:endParaRPr lang="en-US" sz="1350" dirty="0"/>
          </a:p>
        </p:txBody>
      </p:sp>
      <p:sp>
        <p:nvSpPr>
          <p:cNvPr id="19" name="Decisions card"/>
          <p:cNvSpPr/>
          <p:nvPr/>
        </p:nvSpPr>
        <p:spPr>
          <a:xfrm>
            <a:off x="5394960" y="1280160"/>
            <a:ext cx="3291840" cy="3200400"/>
          </a:xfrm>
          <a:prstGeom prst="roundRect">
            <a:avLst>
              <a:gd name="adj" fmla="val 2286"/>
            </a:avLst>
          </a:prstGeom>
          <a:solidFill>
            <a:schemeClr val="bg1"/>
          </a:solidFill>
          <a:ln/>
        </p:spPr>
      </p:sp>
      <p:sp>
        <p:nvSpPr>
          <p:cNvPr id="20" name="Text 18"/>
          <p:cNvSpPr txBox="1"/>
          <p:nvPr/>
        </p:nvSpPr>
        <p:spPr>
          <a:xfrm>
            <a:off x="5623560" y="1417320"/>
            <a:ext cx="2834640" cy="3200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Decisions requested</a:t>
            </a:r>
            <a:endParaRPr lang="en-US" sz="1600" dirty="0"/>
          </a:p>
        </p:txBody>
      </p:sp>
      <p:sp>
        <p:nvSpPr>
          <p:cNvPr id="21" name="Text 19"/>
          <p:cNvSpPr txBox="1"/>
          <p:nvPr/>
        </p:nvSpPr>
        <p:spPr>
          <a:xfrm>
            <a:off x="5623560" y="1874520"/>
            <a:ext cx="283464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Confirm real review capacity (we assumed 30%).</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Provide the Data Science model for integration.</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Approve a human-in-the-loop pilot.</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Name an owner for fairness review.</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FinTrust Leadership">
  <a:themeElements>
    <a:clrScheme name="FinTrust Leadership">
      <a:dk1>
        <a:srgbClr val="0B1F3A"/>
      </a:dk1>
      <a:lt1>
        <a:srgbClr val="FFFFFF"/>
      </a:lt1>
      <a:dk2>
        <a:srgbClr val="12355B"/>
      </a:dk2>
      <a:lt2>
        <a:srgbClr val="EEF3F8"/>
      </a:lt2>
      <a:accent1>
        <a:srgbClr val="0B7A7D"/>
      </a:accent1>
      <a:accent2>
        <a:srgbClr val="F2A541"/>
      </a:accent2>
      <a:accent3>
        <a:srgbClr val="C0283F"/>
      </a:accent3>
      <a:accent4>
        <a:srgbClr val="3E5068"/>
      </a:accent4>
      <a:accent5>
        <a:srgbClr val="1B7A4B"/>
      </a:accent5>
      <a:accent6>
        <a:srgbClr val="D3E4F6"/>
      </a:accent6>
      <a:hlink>
        <a:srgbClr val="0B7A7D"/>
      </a:hlink>
      <a:folHlink>
        <a:srgbClr val="5B7C99"/>
      </a:folHlink>
    </a:clrScheme>
    <a:fontScheme name="FinTrust Leadershi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FinTrust Risk Review - Final ML Workflow (Leadership Briefing)</dc:title>
  <dc:subject>PptxGenJS Presentation</dc:subject>
  <dc:creator>FinTrust ML Engineering Track</dc:creator>
  <cp:lastModifiedBy>FinTrust ML Engineering Track</cp:lastModifiedBy>
  <cp:revision>1</cp:revision>
  <dcterms:created xsi:type="dcterms:W3CDTF">2026-10-10T18:03:18Z</dcterms:created>
  <dcterms:modified xsi:type="dcterms:W3CDTF">2026-10-10T18:03:18Z</dcterms:modified>
</cp:coreProperties>
</file>